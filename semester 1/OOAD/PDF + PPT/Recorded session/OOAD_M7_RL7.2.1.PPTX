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490" r:id="rId2"/>
    <p:sldId id="491" r:id="rId3"/>
    <p:sldId id="498" r:id="rId4"/>
    <p:sldId id="499" r:id="rId5"/>
    <p:sldId id="500" r:id="rId6"/>
    <p:sldId id="501" r:id="rId7"/>
    <p:sldId id="50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1565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2C6E-9196-4BCE-B794-8D13639325CF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06-6BEC-4864-89E4-7EC98E5DF1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182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1/5/2012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EA ZC451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7" name="Picture 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624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3352800"/>
            <a:ext cx="6781800" cy="1600200"/>
          </a:xfrm>
        </p:spPr>
        <p:txBody>
          <a:bodyPr/>
          <a:lstStyle/>
          <a:p>
            <a:pPr algn="ctr"/>
            <a:r>
              <a:rPr lang="en-US" sz="3200" dirty="0" smtClean="0"/>
              <a:t>Object Oriented Analysis &amp; Design</a:t>
            </a:r>
            <a:br>
              <a:rPr lang="en-US" sz="3200" dirty="0" smtClean="0"/>
            </a:br>
            <a:r>
              <a:rPr lang="en-US" sz="3200" dirty="0" smtClean="0"/>
              <a:t>Module-7 (RL 7.2.1)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029200"/>
            <a:ext cx="6019800" cy="1066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rgbClr val="FFC000"/>
                </a:solidFill>
              </a:rPr>
              <a:t>Harvinder</a:t>
            </a:r>
            <a:r>
              <a:rPr lang="en-US" dirty="0" smtClean="0">
                <a:solidFill>
                  <a:srgbClr val="FFC000"/>
                </a:solidFill>
              </a:rPr>
              <a:t> S </a:t>
            </a:r>
            <a:r>
              <a:rPr lang="en-US" dirty="0" err="1" smtClean="0">
                <a:solidFill>
                  <a:srgbClr val="FFC000"/>
                </a:solidFill>
              </a:rPr>
              <a:t>Jabbal</a:t>
            </a:r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66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6200" y="5029200"/>
            <a:ext cx="8763000" cy="1676400"/>
          </a:xfrm>
        </p:spPr>
        <p:txBody>
          <a:bodyPr/>
          <a:lstStyle/>
          <a:p>
            <a:r>
              <a:rPr lang="en-IN" sz="2800" b="0" dirty="0" smtClean="0"/>
              <a:t>Singleton Pattern – Problem &amp; Solution</a:t>
            </a:r>
            <a:r>
              <a:rPr lang="en-IN" sz="2800" dirty="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0907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Singleton (GoF) pattern.</a:t>
            </a:r>
            <a:endParaRPr lang="en-US"/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CA" sz="2800" dirty="0"/>
              <a:t>Problem: Exactly one instance of a class is allowed, it is a singleton. Objects need a global and single point of access.</a:t>
            </a:r>
          </a:p>
          <a:p>
            <a:pPr>
              <a:lnSpc>
                <a:spcPct val="80000"/>
              </a:lnSpc>
            </a:pPr>
            <a:r>
              <a:rPr lang="en-CA" sz="2800" dirty="0"/>
              <a:t>Solution: Define a static method of the class that returns the singleton.</a:t>
            </a:r>
          </a:p>
          <a:p>
            <a:pPr>
              <a:lnSpc>
                <a:spcPct val="80000"/>
              </a:lnSpc>
            </a:pPr>
            <a:r>
              <a:rPr lang="en-CA" sz="2800" dirty="0"/>
              <a:t>The static method of the singleton should be named "</a:t>
            </a:r>
            <a:r>
              <a:rPr lang="en-CA" sz="2800" dirty="0" err="1"/>
              <a:t>getInstance</a:t>
            </a:r>
            <a:r>
              <a:rPr lang="en-CA" sz="2800" dirty="0"/>
              <a:t>()".</a:t>
            </a:r>
          </a:p>
          <a:p>
            <a:pPr>
              <a:lnSpc>
                <a:spcPct val="80000"/>
              </a:lnSpc>
            </a:pPr>
            <a:r>
              <a:rPr lang="en-CA" sz="2800" dirty="0"/>
              <a:t>A singleton is represented in an interaction diagram using a stereotype &lt;&lt;singleton&gt;&gt;. By doing this is not </a:t>
            </a:r>
            <a:r>
              <a:rPr lang="en-CA" sz="2800" dirty="0" err="1"/>
              <a:t>necesary</a:t>
            </a:r>
            <a:r>
              <a:rPr lang="en-CA" sz="2800" dirty="0"/>
              <a:t> to explicitly show the </a:t>
            </a:r>
            <a:r>
              <a:rPr lang="en-CA" sz="2800" dirty="0" err="1"/>
              <a:t>getInstance</a:t>
            </a:r>
            <a:r>
              <a:rPr lang="en-CA" sz="2800" dirty="0"/>
              <a:t>() message before sending a message to the singleton instance.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Singleton (GoF) pattern.</a:t>
            </a:r>
            <a:endParaRPr lang="en-US" b="1"/>
          </a:p>
        </p:txBody>
      </p:sp>
      <p:sp>
        <p:nvSpPr>
          <p:cNvPr id="381956" name="Rectangle 4"/>
          <p:cNvSpPr>
            <a:spLocks noChangeArrowheads="1"/>
          </p:cNvSpPr>
          <p:nvPr/>
        </p:nvSpPr>
        <p:spPr bwMode="auto">
          <a:xfrm>
            <a:off x="2895600" y="1676400"/>
            <a:ext cx="43434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Register</a:t>
            </a:r>
          </a:p>
        </p:txBody>
      </p:sp>
      <p:sp>
        <p:nvSpPr>
          <p:cNvPr id="381957" name="Rectangle 5"/>
          <p:cNvSpPr>
            <a:spLocks noChangeArrowheads="1"/>
          </p:cNvSpPr>
          <p:nvPr/>
        </p:nvSpPr>
        <p:spPr bwMode="auto">
          <a:xfrm>
            <a:off x="2895600" y="2362200"/>
            <a:ext cx="434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…………..</a:t>
            </a:r>
          </a:p>
        </p:txBody>
      </p:sp>
      <p:sp>
        <p:nvSpPr>
          <p:cNvPr id="381958" name="Rectangle 6"/>
          <p:cNvSpPr>
            <a:spLocks noChangeArrowheads="1"/>
          </p:cNvSpPr>
          <p:nvPr/>
        </p:nvSpPr>
        <p:spPr bwMode="auto">
          <a:xfrm>
            <a:off x="2895600" y="2747963"/>
            <a:ext cx="434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static getInstance(): Register</a:t>
            </a:r>
          </a:p>
        </p:txBody>
      </p:sp>
      <p:sp>
        <p:nvSpPr>
          <p:cNvPr id="381959" name="Text Box 7"/>
          <p:cNvSpPr txBox="1">
            <a:spLocks noChangeArrowheads="1"/>
          </p:cNvSpPr>
          <p:nvPr/>
        </p:nvSpPr>
        <p:spPr bwMode="auto">
          <a:xfrm>
            <a:off x="1203325" y="3617913"/>
            <a:ext cx="368935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public static Register getInstance()</a:t>
            </a:r>
          </a:p>
          <a:p>
            <a:r>
              <a:rPr lang="en-US"/>
              <a:t>{</a:t>
            </a:r>
          </a:p>
          <a:p>
            <a:r>
              <a:rPr lang="en-US"/>
              <a:t> if(instance == null)</a:t>
            </a:r>
          </a:p>
          <a:p>
            <a:r>
              <a:rPr lang="en-US"/>
              <a:t>   instance = new Register();</a:t>
            </a:r>
          </a:p>
          <a:p>
            <a:r>
              <a:rPr lang="en-US"/>
              <a:t>  return(instance);</a:t>
            </a:r>
          </a:p>
          <a:p>
            <a:r>
              <a:rPr lang="en-US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The Choice of Adapter was handled by </a:t>
            </a:r>
            <a:r>
              <a:rPr lang="en-IN" dirty="0" err="1" smtClean="0"/>
              <a:t>ServiceFactory</a:t>
            </a:r>
            <a:endParaRPr lang="en-IN" dirty="0" smtClean="0"/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The </a:t>
            </a:r>
            <a:r>
              <a:rPr lang="en-IN" dirty="0" err="1" smtClean="0"/>
              <a:t>ServiceFactory</a:t>
            </a:r>
            <a:r>
              <a:rPr lang="en-IN" dirty="0" smtClean="0"/>
              <a:t> raises another issue: Who creates the Factory itself?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You have to get visibility to this single </a:t>
            </a:r>
            <a:r>
              <a:rPr lang="en-IN" dirty="0" err="1" smtClean="0"/>
              <a:t>ServiceFactory</a:t>
            </a:r>
            <a:r>
              <a:rPr lang="en-IN" dirty="0" smtClean="0"/>
              <a:t> instance?</a:t>
            </a:r>
          </a:p>
          <a:p>
            <a:pPr>
              <a:buFont typeface="Arial" pitchFamily="34" charset="0"/>
              <a:buChar char="•"/>
            </a:pP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953000" y="1600201"/>
            <a:ext cx="4038600" cy="254318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 smtClean="0"/>
              <a:t>Only one instance of the factory is needed in the process.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Methods of this factory may need to be called from various places in the code.</a:t>
            </a:r>
          </a:p>
          <a:p>
            <a:pPr marL="514350" indent="-514350"/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Singleton(</a:t>
            </a:r>
            <a:r>
              <a:rPr lang="en-IN" dirty="0" err="1" smtClean="0"/>
              <a:t>GoF</a:t>
            </a:r>
            <a:r>
              <a:rPr lang="en-IN" dirty="0" smtClean="0"/>
              <a:t>)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The </a:t>
            </a:r>
            <a:r>
              <a:rPr lang="en-IN" dirty="0" err="1" smtClean="0"/>
              <a:t>SingleFactory</a:t>
            </a:r>
            <a:r>
              <a:rPr lang="en-IN" dirty="0" smtClean="0"/>
              <a:t> instance can be passed around as a parameter to every place a visibility need is discover for it</a:t>
            </a:r>
          </a:p>
          <a:p>
            <a:r>
              <a:rPr lang="en-IN" dirty="0" smtClean="0"/>
              <a:t>	OR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The objects that need visibility may be instantiated with a permanent reference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These </a:t>
            </a:r>
            <a:r>
              <a:rPr lang="en-IN" smtClean="0"/>
              <a:t>are </a:t>
            </a:r>
            <a:r>
              <a:rPr lang="en-IN" smtClean="0"/>
              <a:t>inconvenient </a:t>
            </a:r>
            <a:r>
              <a:rPr lang="en-IN" dirty="0" smtClean="0"/>
              <a:t>approaches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Use Singleton pattern </a:t>
            </a:r>
            <a:r>
              <a:rPr lang="en-IN" dirty="0" err="1" smtClean="0"/>
              <a:t>insted</a:t>
            </a:r>
            <a:r>
              <a:rPr lang="en-IN" dirty="0" smtClean="0"/>
              <a:t>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Singleton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Acknowledgement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Slides are based on Course Text Books:</a:t>
            </a:r>
          </a:p>
          <a:p>
            <a:endParaRPr lang="en-IN" dirty="0" smtClean="0"/>
          </a:p>
          <a:p>
            <a:pPr lvl="1"/>
            <a:r>
              <a:rPr lang="en-IN" dirty="0" smtClean="0"/>
              <a:t>Applying UMP and Patterns (An Introduction to Object-Oriented Analysis and Design and Iterative Development) : Craig </a:t>
            </a:r>
            <a:r>
              <a:rPr lang="en-IN" dirty="0" err="1" smtClean="0"/>
              <a:t>Larman</a:t>
            </a:r>
            <a:endParaRPr lang="en-IN" dirty="0" smtClean="0"/>
          </a:p>
          <a:p>
            <a:pPr lvl="1"/>
            <a:r>
              <a:rPr lang="en-IN" dirty="0" smtClean="0"/>
              <a:t>UMP Distilled (A Brief Guide to the Standard Object </a:t>
            </a:r>
            <a:r>
              <a:rPr lang="en-IN" dirty="0" err="1" smtClean="0"/>
              <a:t>Modeling</a:t>
            </a:r>
            <a:r>
              <a:rPr lang="en-IN" dirty="0" smtClean="0"/>
              <a:t> </a:t>
            </a:r>
            <a:r>
              <a:rPr lang="en-IN" dirty="0" err="1" smtClean="0"/>
              <a:t>Langauge</a:t>
            </a:r>
            <a:r>
              <a:rPr lang="en-IN" dirty="0" smtClean="0"/>
              <a:t>) : Martin Fowler</a:t>
            </a:r>
          </a:p>
          <a:p>
            <a:pPr lvl="1"/>
            <a:r>
              <a:rPr lang="en-IN" dirty="0" smtClean="0"/>
              <a:t>Design Patterns (Elements of Reusable Object-Oriented Software) : </a:t>
            </a:r>
            <a:r>
              <a:rPr lang="en-IN" dirty="0" err="1" smtClean="0"/>
              <a:t>GoF</a:t>
            </a:r>
            <a:r>
              <a:rPr lang="en-IN" dirty="0" smtClean="0"/>
              <a:t> </a:t>
            </a:r>
          </a:p>
          <a:p>
            <a:pPr lvl="1">
              <a:buNone/>
            </a:pPr>
            <a:r>
              <a:rPr lang="en-IN" dirty="0" smtClean="0"/>
              <a:t>	Erich Gama | Richard Helm | </a:t>
            </a:r>
          </a:p>
          <a:p>
            <a:pPr lvl="1">
              <a:buNone/>
            </a:pPr>
            <a:r>
              <a:rPr lang="en-IN" dirty="0" smtClean="0"/>
              <a:t>	Ralph Johnson | John </a:t>
            </a:r>
            <a:r>
              <a:rPr lang="en-IN" dirty="0" err="1" smtClean="0"/>
              <a:t>Vlissides</a:t>
            </a:r>
            <a:r>
              <a:rPr lang="en-IN" dirty="0" smtClean="0"/>
              <a:t>.</a:t>
            </a:r>
          </a:p>
          <a:p>
            <a:pPr lvl="1">
              <a:buNone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2435</TotalTime>
  <Words>287</Words>
  <Application>Microsoft Office PowerPoint</Application>
  <PresentationFormat>On-screen Show (4:3)</PresentationFormat>
  <Paragraphs>145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Object Oriented Analysis &amp; Design Module-7 (RL 7.2.1)</vt:lpstr>
      <vt:lpstr>Slide 2</vt:lpstr>
      <vt:lpstr>Singleton (GoF) pattern.</vt:lpstr>
      <vt:lpstr>Singleton (GoF) pattern.</vt:lpstr>
      <vt:lpstr>Slide 5</vt:lpstr>
      <vt:lpstr>Slide 6</vt:lpstr>
      <vt:lpstr>Acknowledgement</vt:lpstr>
    </vt:vector>
  </TitlesOfParts>
  <Company>bits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 ZC451 (Lecture #2)</dc:title>
  <dc:creator>ipc</dc:creator>
  <cp:lastModifiedBy>Harvinder Jabbal</cp:lastModifiedBy>
  <cp:revision>267</cp:revision>
  <dcterms:created xsi:type="dcterms:W3CDTF">2012-01-04T06:56:57Z</dcterms:created>
  <dcterms:modified xsi:type="dcterms:W3CDTF">2015-02-26T02:07:54Z</dcterms:modified>
</cp:coreProperties>
</file>