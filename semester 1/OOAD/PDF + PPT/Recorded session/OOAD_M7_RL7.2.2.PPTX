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90" r:id="rId2"/>
    <p:sldId id="491" r:id="rId3"/>
    <p:sldId id="499" r:id="rId4"/>
    <p:sldId id="500" r:id="rId5"/>
    <p:sldId id="501" r:id="rId6"/>
    <p:sldId id="49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1565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2C6E-9196-4BCE-B794-8D13639325CF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06-6BEC-4864-89E4-7EC98E5DF1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182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1/5/2012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EA ZC451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7" name="Picture 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6781800" cy="1600200"/>
          </a:xfrm>
        </p:spPr>
        <p:txBody>
          <a:bodyPr/>
          <a:lstStyle/>
          <a:p>
            <a:pPr algn="ctr"/>
            <a:r>
              <a:rPr lang="en-US" sz="3200" dirty="0" smtClean="0"/>
              <a:t>Object Oriented Analysis &amp; Design</a:t>
            </a:r>
            <a:br>
              <a:rPr lang="en-US" sz="3200" dirty="0" smtClean="0"/>
            </a:br>
            <a:r>
              <a:rPr lang="en-US" sz="3200" dirty="0" smtClean="0"/>
              <a:t>Module-7 (RL 7.2.2)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029200"/>
            <a:ext cx="6019800" cy="1066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FFC000"/>
                </a:solidFill>
              </a:rPr>
              <a:t>Harvinder</a:t>
            </a:r>
            <a:r>
              <a:rPr lang="en-US" dirty="0" smtClean="0">
                <a:solidFill>
                  <a:srgbClr val="FFC000"/>
                </a:solidFill>
              </a:rPr>
              <a:t> S </a:t>
            </a:r>
            <a:r>
              <a:rPr lang="en-US" dirty="0" err="1" smtClean="0">
                <a:solidFill>
                  <a:srgbClr val="FFC000"/>
                </a:solidFill>
              </a:rPr>
              <a:t>Jabbal</a:t>
            </a:r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6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5029200"/>
            <a:ext cx="8763000" cy="1676400"/>
          </a:xfrm>
        </p:spPr>
        <p:txBody>
          <a:bodyPr/>
          <a:lstStyle/>
          <a:p>
            <a:r>
              <a:rPr lang="en-IN" sz="2800" b="0" dirty="0" smtClean="0"/>
              <a:t>Application of Singleton Pattern to </a:t>
            </a:r>
            <a:r>
              <a:rPr lang="en-IN" sz="2800" b="0" dirty="0" err="1" smtClean="0"/>
              <a:t>PoS.</a:t>
            </a:r>
            <a:r>
              <a:rPr lang="en-IN" sz="2800" dirty="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090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572132" y="1428737"/>
            <a:ext cx="3419468" cy="3143272"/>
          </a:xfrm>
        </p:spPr>
        <p:txBody>
          <a:bodyPr>
            <a:normAutofit fontScale="700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Singleton is illustrated with a “1” on the top right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Key idea: class X defines a static method </a:t>
            </a:r>
            <a:r>
              <a:rPr lang="en-IN" dirty="0" err="1" smtClean="0"/>
              <a:t>getInstance</a:t>
            </a:r>
            <a:r>
              <a:rPr lang="en-IN" dirty="0" smtClean="0"/>
              <a:t> that itself provides a single instance of X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Developer has global visibility to this single </a:t>
            </a:r>
            <a:r>
              <a:rPr lang="en-IN" dirty="0" err="1" smtClean="0"/>
              <a:t>insatnace</a:t>
            </a:r>
            <a:r>
              <a:rPr lang="en-IN" dirty="0" smtClean="0"/>
              <a:t> via static </a:t>
            </a:r>
            <a:r>
              <a:rPr lang="en-IN" dirty="0" err="1" smtClean="0"/>
              <a:t>getInstance</a:t>
            </a:r>
            <a:r>
              <a:rPr lang="en-IN" dirty="0" smtClean="0"/>
              <a:t> method of the class.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The Singleton pattern in the </a:t>
            </a:r>
            <a:r>
              <a:rPr lang="en-IN" dirty="0" err="1" smtClean="0"/>
              <a:t>ServiceFactory</a:t>
            </a:r>
            <a:r>
              <a:rPr lang="en-IN" dirty="0" smtClean="0"/>
              <a:t> Class</a:t>
            </a:r>
            <a:endParaRPr lang="en-IN" dirty="0"/>
          </a:p>
        </p:txBody>
      </p:sp>
      <p:graphicFrame>
        <p:nvGraphicFramePr>
          <p:cNvPr id="35842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0" y="1428736"/>
          <a:ext cx="5429256" cy="5000660"/>
        </p:xfrm>
        <a:graphic>
          <a:graphicData uri="http://schemas.openxmlformats.org/presentationml/2006/ole">
            <p:oleObj spid="_x0000_s1026" name="Visio" r:id="rId3" imgW="6296760" imgH="44820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4286256"/>
            <a:ext cx="4038600" cy="1839907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Note the “1” mark on the Service factory Class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Implicit </a:t>
            </a:r>
            <a:r>
              <a:rPr lang="en-IN" dirty="0" err="1" smtClean="0"/>
              <a:t>getInstance</a:t>
            </a:r>
            <a:r>
              <a:rPr lang="en-IN" dirty="0" smtClean="0"/>
              <a:t> Singleton pattern message</a:t>
            </a:r>
            <a:endParaRPr lang="en-IN" dirty="0"/>
          </a:p>
        </p:txBody>
      </p:sp>
      <p:graphicFrame>
        <p:nvGraphicFramePr>
          <p:cNvPr id="36866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357158" y="1428736"/>
          <a:ext cx="8572560" cy="2786082"/>
        </p:xfrm>
        <a:graphic>
          <a:graphicData uri="http://schemas.openxmlformats.org/presentationml/2006/ole">
            <p:oleObj spid="_x0000_s2050" name="Visio" r:id="rId3" imgW="5504760" imgH="170172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Adapter, Factory and Singleton pattern applied to the design</a:t>
            </a:r>
            <a:endParaRPr lang="en-IN" dirty="0"/>
          </a:p>
        </p:txBody>
      </p:sp>
      <p:graphicFrame>
        <p:nvGraphicFramePr>
          <p:cNvPr id="37890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357158" y="1428736"/>
          <a:ext cx="8572560" cy="5072098"/>
        </p:xfrm>
        <a:graphic>
          <a:graphicData uri="http://schemas.openxmlformats.org/presentationml/2006/ole">
            <p:oleObj spid="_x0000_s3074" name="Visio" r:id="rId3" imgW="6871680" imgH="44110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Acknowledgement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Slides are based on Course Text Books:</a:t>
            </a:r>
          </a:p>
          <a:p>
            <a:endParaRPr lang="en-IN" dirty="0" smtClean="0"/>
          </a:p>
          <a:p>
            <a:pPr lvl="1"/>
            <a:r>
              <a:rPr lang="en-IN" dirty="0" smtClean="0"/>
              <a:t>Applying UMP and Patterns (An Introduction to Object-Oriented Analysis and Design and Iterative Development) : Craig </a:t>
            </a:r>
            <a:r>
              <a:rPr lang="en-IN" dirty="0" err="1" smtClean="0"/>
              <a:t>Larman</a:t>
            </a:r>
            <a:endParaRPr lang="en-IN" dirty="0" smtClean="0"/>
          </a:p>
          <a:p>
            <a:pPr lvl="1"/>
            <a:r>
              <a:rPr lang="en-IN" dirty="0" smtClean="0"/>
              <a:t>UMP Distilled (A Brief Guide to the Standard Object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  <a:r>
              <a:rPr lang="en-IN" dirty="0" err="1" smtClean="0"/>
              <a:t>Langauge</a:t>
            </a:r>
            <a:r>
              <a:rPr lang="en-IN" dirty="0" smtClean="0"/>
              <a:t>) : Martin Fowler</a:t>
            </a:r>
          </a:p>
          <a:p>
            <a:pPr lvl="1"/>
            <a:r>
              <a:rPr lang="en-IN" dirty="0" smtClean="0"/>
              <a:t>Design Patterns (Elements of Reusable Object-Oriented Software) : </a:t>
            </a:r>
            <a:r>
              <a:rPr lang="en-IN" dirty="0" err="1" smtClean="0"/>
              <a:t>GoF</a:t>
            </a:r>
            <a:r>
              <a:rPr lang="en-IN" dirty="0" smtClean="0"/>
              <a:t> </a:t>
            </a:r>
          </a:p>
          <a:p>
            <a:pPr lvl="1">
              <a:buNone/>
            </a:pPr>
            <a:r>
              <a:rPr lang="en-IN" dirty="0" smtClean="0"/>
              <a:t>	Erich Gama | Richard Helm | </a:t>
            </a:r>
          </a:p>
          <a:p>
            <a:pPr lvl="1">
              <a:buNone/>
            </a:pPr>
            <a:r>
              <a:rPr lang="en-IN" dirty="0" smtClean="0"/>
              <a:t>	Ralph Johnson | John </a:t>
            </a:r>
            <a:r>
              <a:rPr lang="en-IN" dirty="0" err="1" smtClean="0"/>
              <a:t>Vlissides</a:t>
            </a:r>
            <a:r>
              <a:rPr lang="en-IN" dirty="0" smtClean="0"/>
              <a:t>.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2432</TotalTime>
  <Words>149</Words>
  <Application>Microsoft Office PowerPoint</Application>
  <PresentationFormat>On-screen Show (4:3)</PresentationFormat>
  <Paragraphs>125</Paragraphs>
  <Slides>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Visio</vt:lpstr>
      <vt:lpstr>Object Oriented Analysis &amp; Design Module-7 (RL 7.2.2)</vt:lpstr>
      <vt:lpstr>Slide 2</vt:lpstr>
      <vt:lpstr>Slide 3</vt:lpstr>
      <vt:lpstr>Slide 4</vt:lpstr>
      <vt:lpstr>Slide 5</vt:lpstr>
      <vt:lpstr>Acknowledgement</vt:lpstr>
    </vt:vector>
  </TitlesOfParts>
  <Company>bits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Harvinder Jabbal</cp:lastModifiedBy>
  <cp:revision>265</cp:revision>
  <dcterms:created xsi:type="dcterms:W3CDTF">2012-01-04T06:56:57Z</dcterms:created>
  <dcterms:modified xsi:type="dcterms:W3CDTF">2015-02-26T02:04:27Z</dcterms:modified>
</cp:coreProperties>
</file>