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490" r:id="rId2"/>
    <p:sldId id="491" r:id="rId3"/>
    <p:sldId id="499" r:id="rId4"/>
    <p:sldId id="500" r:id="rId5"/>
    <p:sldId id="498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FF99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6" d="100"/>
          <a:sy n="76" d="100"/>
        </p:scale>
        <p:origin x="-1565" y="-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12C6E-9196-4BCE-B794-8D13639325CF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420006-6BEC-4864-89E4-7EC98E5DF1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01821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 smtClean="0"/>
              <a:t>1/5/2012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EA ZC451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TextBox 16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18" name="Picture 17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19" name="Group 18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20" name="Rectangle 1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ectangle 2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3" name="Group 22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276600" y="6596390"/>
            <a:ext cx="58674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1" dirty="0" smtClean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1100" dirty="0" smtClean="0">
                <a:solidFill>
                  <a:srgbClr val="101141"/>
                </a:solidFill>
                <a:latin typeface="Arial"/>
                <a:cs typeface="Arial"/>
              </a:rPr>
              <a:t>Pilani, Deemed</a:t>
            </a:r>
            <a:r>
              <a:rPr lang="en-US" sz="1100" baseline="0" dirty="0" smtClean="0">
                <a:solidFill>
                  <a:srgbClr val="101141"/>
                </a:solidFill>
                <a:latin typeface="Arial"/>
                <a:cs typeface="Arial"/>
              </a:rPr>
              <a:t> to be University under Section 3 of UGC Act, 1956</a:t>
            </a:r>
            <a:endParaRPr lang="en-US" sz="1100" dirty="0">
              <a:solidFill>
                <a:srgbClr val="101141"/>
              </a:solidFill>
              <a:latin typeface="Arial"/>
              <a:cs typeface="Arial"/>
            </a:endParaRPr>
          </a:p>
        </p:txBody>
      </p:sp>
      <p:pic>
        <p:nvPicPr>
          <p:cNvPr id="7" name="Picture 6" descr="Picture 7.png"/>
          <p:cNvPicPr>
            <a:picLocks noChangeAspect="1"/>
          </p:cNvPicPr>
          <p:nvPr userDrawn="1"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grpSp>
        <p:nvGrpSpPr>
          <p:cNvPr id="8" name="Group 7"/>
          <p:cNvGrpSpPr/>
          <p:nvPr userDrawn="1"/>
        </p:nvGrpSpPr>
        <p:grpSpPr>
          <a:xfrm>
            <a:off x="2133600" y="6553200"/>
            <a:ext cx="7010400" cy="4571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>
            <a:off x="0" y="1295400"/>
            <a:ext cx="7010400" cy="45719"/>
            <a:chOff x="1905000" y="6553200"/>
            <a:chExt cx="7010400" cy="45719"/>
          </a:xfrm>
        </p:grpSpPr>
        <p:sp>
          <p:nvSpPr>
            <p:cNvPr id="13" name="Rectangle 12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rotWithShape="1">
          <a:blip r:embed="rId2" cstate="print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BITS_university_logo_whitevert.png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2" b="28592"/>
          <a:stretch/>
        </p:blipFill>
        <p:spPr>
          <a:xfrm>
            <a:off x="76200" y="3352800"/>
            <a:ext cx="2057400" cy="1980000"/>
          </a:xfrm>
          <a:prstGeom prst="rect">
            <a:avLst/>
          </a:prstGeom>
        </p:spPr>
      </p:pic>
      <p:grpSp>
        <p:nvGrpSpPr>
          <p:cNvPr id="3" name="Group 9"/>
          <p:cNvGrpSpPr/>
          <p:nvPr userDrawn="1"/>
        </p:nvGrpSpPr>
        <p:grpSpPr>
          <a:xfrm>
            <a:off x="-76200" y="5257800"/>
            <a:ext cx="2209800" cy="685800"/>
            <a:chOff x="76200" y="2209800"/>
            <a:chExt cx="2209800" cy="685800"/>
          </a:xfrm>
        </p:grpSpPr>
        <p:sp>
          <p:nvSpPr>
            <p:cNvPr id="11" name="TextBox 10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2" name="TextBox 11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2514600" y="5410200"/>
            <a:ext cx="6019800" cy="533400"/>
          </a:xfrm>
        </p:spPr>
        <p:txBody>
          <a:bodyPr anchor="b" anchorCtr="0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 smtClean="0"/>
              <a:t>Presenter details comes here</a:t>
            </a:r>
          </a:p>
          <a:p>
            <a:pPr lvl="0"/>
            <a:r>
              <a:rPr lang="en-GB" dirty="0" smtClean="0"/>
              <a:t>Date and other details can come here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14600" y="3810000"/>
            <a:ext cx="6019800" cy="1524000"/>
          </a:xfrm>
        </p:spPr>
        <p:txBody>
          <a:bodyPr anchor="ctr" anchorCtr="0"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GB" dirty="0" smtClean="0"/>
              <a:t>Please enter the presentation title here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1136243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 userDrawn="1"/>
        </p:nvSpPr>
        <p:spPr>
          <a:xfrm>
            <a:off x="0" y="4282182"/>
            <a:ext cx="9144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14" descr="Picture 7.png"/>
          <p:cNvPicPr>
            <a:picLocks noChangeAspect="1"/>
          </p:cNvPicPr>
          <p:nvPr userDrawn="1"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6629400" y="-1"/>
            <a:ext cx="2193193" cy="692697"/>
          </a:xfrm>
          <a:prstGeom prst="rect">
            <a:avLst/>
          </a:prstGeom>
        </p:spPr>
      </p:pic>
      <p:sp>
        <p:nvSpPr>
          <p:cNvPr id="17" name="Content Placeholder 16"/>
          <p:cNvSpPr>
            <a:spLocks noGrp="1"/>
          </p:cNvSpPr>
          <p:nvPr>
            <p:ph sz="quarter" idx="10" hasCustomPrompt="1"/>
          </p:nvPr>
        </p:nvSpPr>
        <p:spPr>
          <a:xfrm>
            <a:off x="304800" y="4648200"/>
            <a:ext cx="8458200" cy="1600200"/>
          </a:xfrm>
        </p:spPr>
        <p:txBody>
          <a:bodyPr>
            <a:noAutofit/>
          </a:bodyPr>
          <a:lstStyle>
            <a:lvl1pPr marL="0" indent="0">
              <a:lnSpc>
                <a:spcPts val="4200"/>
              </a:lnSpc>
              <a:spcBef>
                <a:spcPts val="0"/>
              </a:spcBef>
              <a:buNone/>
              <a:defRPr sz="4000" b="1" spc="-150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Topic headings here </a:t>
            </a:r>
          </a:p>
          <a:p>
            <a:pPr lvl="0"/>
            <a:r>
              <a:rPr lang="en-US" dirty="0" smtClean="0"/>
              <a:t>(separator - can run in two lines)</a:t>
            </a:r>
            <a:endParaRPr lang="en-US" dirty="0"/>
          </a:p>
        </p:txBody>
      </p:sp>
      <p:sp>
        <p:nvSpPr>
          <p:cNvPr id="11" name="Rectangle 10"/>
          <p:cNvSpPr/>
          <p:nvPr userDrawn="1"/>
        </p:nvSpPr>
        <p:spPr>
          <a:xfrm>
            <a:off x="2882900" y="677545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 userDrawn="1"/>
        </p:nvSpPr>
        <p:spPr>
          <a:xfrm>
            <a:off x="-12700" y="677545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5778500" y="677545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1"/>
          <p:cNvGrpSpPr/>
          <p:nvPr userDrawn="1"/>
        </p:nvGrpSpPr>
        <p:grpSpPr>
          <a:xfrm>
            <a:off x="6858000" y="762000"/>
            <a:ext cx="2209800" cy="685800"/>
            <a:chOff x="76200" y="2209800"/>
            <a:chExt cx="2209800" cy="685800"/>
          </a:xfrm>
        </p:grpSpPr>
        <p:sp>
          <p:nvSpPr>
            <p:cNvPr id="13" name="TextBox 12"/>
            <p:cNvSpPr txBox="1"/>
            <p:nvPr userDrawn="1"/>
          </p:nvSpPr>
          <p:spPr>
            <a:xfrm>
              <a:off x="76200" y="2209800"/>
              <a:ext cx="220980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900" b="1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BITS</a:t>
              </a:r>
              <a:r>
                <a:rPr lang="en-US" sz="2900" spc="-150" dirty="0" smtClean="0">
                  <a:solidFill>
                    <a:schemeClr val="bg1"/>
                  </a:solidFill>
                  <a:latin typeface="Arial"/>
                  <a:cs typeface="Arial"/>
                </a:rPr>
                <a:t> Pilani</a:t>
              </a:r>
              <a:endParaRPr lang="en-US" sz="2900" spc="-150" dirty="0">
                <a:solidFill>
                  <a:schemeClr val="bg1"/>
                </a:solidFill>
                <a:latin typeface="Arial"/>
                <a:cs typeface="Arial"/>
              </a:endParaRPr>
            </a:p>
          </p:txBody>
        </p:sp>
        <p:sp>
          <p:nvSpPr>
            <p:cNvPr id="14" name="TextBox 13"/>
            <p:cNvSpPr txBox="1"/>
            <p:nvPr userDrawn="1"/>
          </p:nvSpPr>
          <p:spPr>
            <a:xfrm>
              <a:off x="228600" y="2664768"/>
              <a:ext cx="19050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spc="-150" dirty="0" smtClean="0">
                  <a:solidFill>
                    <a:srgbClr val="FFFFFF"/>
                  </a:solidFill>
                  <a:latin typeface="Arial"/>
                  <a:cs typeface="Arial"/>
                </a:rPr>
                <a:t>Pilani | Dubai</a:t>
              </a:r>
              <a:r>
                <a:rPr lang="en-US" sz="900" spc="-150" baseline="0" dirty="0" smtClean="0">
                  <a:solidFill>
                    <a:srgbClr val="FFFFFF"/>
                  </a:solidFill>
                  <a:latin typeface="Arial"/>
                  <a:cs typeface="Arial"/>
                </a:rPr>
                <a:t> | Goa | Hyderabad</a:t>
              </a:r>
              <a:endParaRPr lang="en-US" sz="900" spc="-150" dirty="0">
                <a:solidFill>
                  <a:srgbClr val="FFFFFF"/>
                </a:solidFill>
                <a:latin typeface="Arial"/>
                <a:cs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B7746-5A8B-4B89-91AC-0A8C00BDE328}" type="datetimeFigureOut">
              <a:rPr lang="en-US" smtClean="0"/>
              <a:pPr/>
              <a:t>2/26/2015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F2A5E8-19C0-4E2C-B466-4170E390379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828800" y="3352800"/>
            <a:ext cx="6781800" cy="1600200"/>
          </a:xfrm>
        </p:spPr>
        <p:txBody>
          <a:bodyPr/>
          <a:lstStyle/>
          <a:p>
            <a:pPr algn="ctr"/>
            <a:r>
              <a:rPr lang="en-US" sz="3200" dirty="0" smtClean="0"/>
              <a:t>Object Oriented Analysis &amp; Design</a:t>
            </a:r>
            <a:br>
              <a:rPr lang="en-US" sz="3200" dirty="0" smtClean="0"/>
            </a:br>
            <a:r>
              <a:rPr lang="en-US" sz="3200" dirty="0" smtClean="0"/>
              <a:t>Module-7 (RL 7.2.3)</a:t>
            </a:r>
            <a:endParaRPr lang="en-US" sz="3200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3"/>
          </p:nvPr>
        </p:nvSpPr>
        <p:spPr>
          <a:xfrm>
            <a:off x="2514600" y="5029200"/>
            <a:ext cx="6019800" cy="1066800"/>
          </a:xfrm>
        </p:spPr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err="1" smtClean="0">
                <a:solidFill>
                  <a:srgbClr val="FFC000"/>
                </a:solidFill>
              </a:rPr>
              <a:t>Harvinder</a:t>
            </a:r>
            <a:r>
              <a:rPr lang="en-US" dirty="0" smtClean="0">
                <a:solidFill>
                  <a:srgbClr val="FFC000"/>
                </a:solidFill>
              </a:rPr>
              <a:t> S </a:t>
            </a:r>
            <a:r>
              <a:rPr lang="en-US" dirty="0" err="1" smtClean="0">
                <a:solidFill>
                  <a:srgbClr val="FFC000"/>
                </a:solidFill>
              </a:rPr>
              <a:t>Jabbal</a:t>
            </a:r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  <a:p>
            <a:endParaRPr lang="en-US" dirty="0" smtClean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36614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76200" y="5029200"/>
            <a:ext cx="8763000" cy="1676400"/>
          </a:xfrm>
        </p:spPr>
        <p:txBody>
          <a:bodyPr/>
          <a:lstStyle/>
          <a:p>
            <a:r>
              <a:rPr lang="en-IN" sz="2800" b="0" smtClean="0"/>
              <a:t>Strategy Pattern – Problem &amp; Solution</a:t>
            </a:r>
            <a:r>
              <a:rPr lang="en-IN" sz="2800" smtClean="0"/>
              <a:t>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xmlns="" val="1090735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CA" b="1"/>
              <a:t>Strategy (GoF) pattern.</a:t>
            </a:r>
            <a:endParaRPr lang="en-US"/>
          </a:p>
        </p:txBody>
      </p:sp>
      <p:sp>
        <p:nvSpPr>
          <p:cNvPr id="367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en-CA" sz="2400"/>
              <a:t>Problem: How to design for varying but related algorithms or policies? How to design for the ability to change these algorithms or policies?</a:t>
            </a:r>
          </a:p>
          <a:p>
            <a:pPr>
              <a:lnSpc>
                <a:spcPct val="80000"/>
              </a:lnSpc>
            </a:pPr>
            <a:r>
              <a:rPr lang="en-CA" sz="2400"/>
              <a:t>Solution: Define each algorithm/policy/strategy in a separate class with a common interface.</a:t>
            </a:r>
          </a:p>
          <a:p>
            <a:pPr>
              <a:lnSpc>
                <a:spcPct val="80000"/>
              </a:lnSpc>
            </a:pPr>
            <a:r>
              <a:rPr lang="en-CA" sz="2400"/>
              <a:t>The interface for the Strategy Object must accept as a parameter a reference of the Context Object.</a:t>
            </a:r>
          </a:p>
          <a:p>
            <a:pPr>
              <a:lnSpc>
                <a:spcPct val="80000"/>
              </a:lnSpc>
            </a:pPr>
            <a:r>
              <a:rPr lang="en-CA" sz="2400"/>
              <a:t>A Strategy object is used only by one Context Object.</a:t>
            </a:r>
          </a:p>
          <a:p>
            <a:pPr>
              <a:lnSpc>
                <a:spcPct val="80000"/>
              </a:lnSpc>
            </a:pPr>
            <a:r>
              <a:rPr lang="en-CA" sz="2400"/>
              <a:t>When a Context Object sends a message to the Strategy object a reference of the Context Object must be passed as a parameter for further collaboration.</a:t>
            </a:r>
          </a:p>
          <a:p>
            <a:pPr>
              <a:lnSpc>
                <a:spcPct val="80000"/>
              </a:lnSpc>
            </a:pPr>
            <a:r>
              <a:rPr lang="en-CA" sz="2400"/>
              <a:t>The Context Object must use a reference to the Strategy interface (no to the Strategy implementation) to send messages.</a:t>
            </a:r>
            <a:endParaRPr 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9964" name="Picture 60" descr="image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1000" y="1143000"/>
            <a:ext cx="8220075" cy="2362200"/>
          </a:xfrm>
          <a:prstGeom prst="rect">
            <a:avLst/>
          </a:prstGeom>
          <a:noFill/>
        </p:spPr>
      </p:pic>
      <p:sp>
        <p:nvSpPr>
          <p:cNvPr id="379906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en-CA" b="1"/>
              <a:t>Strategy (GoF) pattern.</a:t>
            </a:r>
            <a:endParaRPr lang="en-US" b="1"/>
          </a:p>
        </p:txBody>
      </p:sp>
      <p:sp>
        <p:nvSpPr>
          <p:cNvPr id="379909" name="Rectangle 5"/>
          <p:cNvSpPr>
            <a:spLocks noChangeArrowheads="1"/>
          </p:cNvSpPr>
          <p:nvPr/>
        </p:nvSpPr>
        <p:spPr bwMode="auto">
          <a:xfrm>
            <a:off x="368300" y="4041775"/>
            <a:ext cx="8470900" cy="251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/>
              <a:t>Client: provides algorithm to the context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/>
              <a:t>Context: uses abstract interface to algorithm</a:t>
            </a:r>
          </a:p>
          <a:p>
            <a:pPr marL="342900" indent="-342900">
              <a:spcBef>
                <a:spcPct val="20000"/>
              </a:spcBef>
              <a:buFontTx/>
              <a:buChar char="•"/>
            </a:pPr>
            <a:r>
              <a:rPr lang="en-US" sz="3200"/>
              <a:t>Adding new algorithms does not impact context</a:t>
            </a:r>
            <a:endParaRPr lang="en-US" sz="3200" i="1"/>
          </a:p>
        </p:txBody>
      </p:sp>
      <p:sp>
        <p:nvSpPr>
          <p:cNvPr id="379910" name="Text Box 6"/>
          <p:cNvSpPr txBox="1">
            <a:spLocks noChangeArrowheads="1"/>
          </p:cNvSpPr>
          <p:nvPr/>
        </p:nvSpPr>
        <p:spPr bwMode="auto">
          <a:xfrm>
            <a:off x="5851525" y="1027113"/>
            <a:ext cx="15557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Sort Interface</a:t>
            </a:r>
          </a:p>
        </p:txBody>
      </p:sp>
      <p:sp>
        <p:nvSpPr>
          <p:cNvPr id="379911" name="Line 7"/>
          <p:cNvSpPr>
            <a:spLocks noChangeShapeType="1"/>
          </p:cNvSpPr>
          <p:nvPr/>
        </p:nvSpPr>
        <p:spPr bwMode="auto">
          <a:xfrm flipH="1">
            <a:off x="5257800" y="1219200"/>
            <a:ext cx="6096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79912" name="Text Box 8"/>
          <p:cNvSpPr txBox="1">
            <a:spLocks noChangeArrowheads="1"/>
          </p:cNvSpPr>
          <p:nvPr/>
        </p:nvSpPr>
        <p:spPr bwMode="auto">
          <a:xfrm>
            <a:off x="1524000" y="3733800"/>
            <a:ext cx="229235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Bubble Sort Strategy</a:t>
            </a:r>
          </a:p>
        </p:txBody>
      </p:sp>
      <p:sp>
        <p:nvSpPr>
          <p:cNvPr id="379913" name="Line 9"/>
          <p:cNvSpPr>
            <a:spLocks noChangeShapeType="1"/>
          </p:cNvSpPr>
          <p:nvPr/>
        </p:nvSpPr>
        <p:spPr bwMode="auto">
          <a:xfrm flipH="1" flipV="1">
            <a:off x="1295400" y="35052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  <p:sp>
        <p:nvSpPr>
          <p:cNvPr id="379914" name="Text Box 10"/>
          <p:cNvSpPr txBox="1">
            <a:spLocks noChangeArrowheads="1"/>
          </p:cNvSpPr>
          <p:nvPr/>
        </p:nvSpPr>
        <p:spPr bwMode="auto">
          <a:xfrm>
            <a:off x="4718050" y="3748088"/>
            <a:ext cx="2165350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/>
              <a:t>Quick Sort Strategy</a:t>
            </a:r>
          </a:p>
        </p:txBody>
      </p:sp>
      <p:sp>
        <p:nvSpPr>
          <p:cNvPr id="379915" name="Line 11"/>
          <p:cNvSpPr>
            <a:spLocks noChangeShapeType="1"/>
          </p:cNvSpPr>
          <p:nvPr/>
        </p:nvSpPr>
        <p:spPr bwMode="auto">
          <a:xfrm flipH="1" flipV="1">
            <a:off x="4343400" y="3505200"/>
            <a:ext cx="15240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IN" dirty="0" smtClean="0"/>
              <a:t>Acknowledgement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Slides are based on Course Text Books:</a:t>
            </a:r>
          </a:p>
          <a:p>
            <a:endParaRPr lang="en-IN" dirty="0" smtClean="0"/>
          </a:p>
          <a:p>
            <a:pPr lvl="1"/>
            <a:r>
              <a:rPr lang="en-IN" dirty="0" smtClean="0"/>
              <a:t>Applying UMP and Patterns (An Introduction to Object-Oriented Analysis and Design and Iterative Development) : Craig </a:t>
            </a:r>
            <a:r>
              <a:rPr lang="en-IN" dirty="0" err="1" smtClean="0"/>
              <a:t>Larman</a:t>
            </a:r>
            <a:endParaRPr lang="en-IN" dirty="0" smtClean="0"/>
          </a:p>
          <a:p>
            <a:pPr lvl="1"/>
            <a:r>
              <a:rPr lang="en-IN" dirty="0" smtClean="0"/>
              <a:t>UMP Distilled (A Brief Guide to the Standard Object </a:t>
            </a:r>
            <a:r>
              <a:rPr lang="en-IN" dirty="0" err="1" smtClean="0"/>
              <a:t>Modeling</a:t>
            </a:r>
            <a:r>
              <a:rPr lang="en-IN" dirty="0" smtClean="0"/>
              <a:t> </a:t>
            </a:r>
            <a:r>
              <a:rPr lang="en-IN" dirty="0" err="1" smtClean="0"/>
              <a:t>Langauge</a:t>
            </a:r>
            <a:r>
              <a:rPr lang="en-IN" dirty="0" smtClean="0"/>
              <a:t>) : Martin Fowler</a:t>
            </a:r>
          </a:p>
          <a:p>
            <a:pPr lvl="1"/>
            <a:r>
              <a:rPr lang="en-IN" dirty="0" smtClean="0"/>
              <a:t>Design Patterns (Elements of Reusable Object-Oriented Software) : </a:t>
            </a:r>
            <a:r>
              <a:rPr lang="en-IN" dirty="0" err="1" smtClean="0"/>
              <a:t>GoF</a:t>
            </a:r>
            <a:r>
              <a:rPr lang="en-IN" dirty="0" smtClean="0"/>
              <a:t> </a:t>
            </a:r>
          </a:p>
          <a:p>
            <a:pPr lvl="1">
              <a:buNone/>
            </a:pPr>
            <a:r>
              <a:rPr lang="en-IN" dirty="0" smtClean="0"/>
              <a:t>	Erich Gama | Richard Helm | </a:t>
            </a:r>
          </a:p>
          <a:p>
            <a:pPr lvl="1">
              <a:buNone/>
            </a:pPr>
            <a:r>
              <a:rPr lang="en-IN" dirty="0" smtClean="0"/>
              <a:t>	Ralph Johnson | John </a:t>
            </a:r>
            <a:r>
              <a:rPr lang="en-IN" dirty="0" err="1" smtClean="0"/>
              <a:t>Vlissides</a:t>
            </a:r>
            <a:r>
              <a:rPr lang="en-IN" dirty="0" smtClean="0"/>
              <a:t>.</a:t>
            </a:r>
          </a:p>
          <a:p>
            <a:pPr lvl="1">
              <a:buNone/>
            </a:pP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2434</TotalTime>
  <Words>228</Words>
  <Application>Microsoft Office PowerPoint</Application>
  <PresentationFormat>On-screen Show (4:3)</PresentationFormat>
  <Paragraphs>132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Object Oriented Analysis &amp; Design Module-7 (RL 7.2.3)</vt:lpstr>
      <vt:lpstr>Slide 2</vt:lpstr>
      <vt:lpstr>Strategy (GoF) pattern.</vt:lpstr>
      <vt:lpstr>Strategy (GoF) pattern.</vt:lpstr>
      <vt:lpstr>Acknowledgement</vt:lpstr>
    </vt:vector>
  </TitlesOfParts>
  <Company>bits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 ZC451 (Lecture #2)</dc:title>
  <dc:creator>ipc</dc:creator>
  <cp:lastModifiedBy>Harvinder Jabbal</cp:lastModifiedBy>
  <cp:revision>265</cp:revision>
  <dcterms:created xsi:type="dcterms:W3CDTF">2012-01-04T06:56:57Z</dcterms:created>
  <dcterms:modified xsi:type="dcterms:W3CDTF">2015-02-26T02:07:11Z</dcterms:modified>
</cp:coreProperties>
</file>