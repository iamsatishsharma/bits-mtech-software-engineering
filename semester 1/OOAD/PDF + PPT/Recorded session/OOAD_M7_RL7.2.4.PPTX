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490" r:id="rId2"/>
    <p:sldId id="491" r:id="rId3"/>
    <p:sldId id="499" r:id="rId4"/>
    <p:sldId id="500" r:id="rId5"/>
    <p:sldId id="501" r:id="rId6"/>
    <p:sldId id="502" r:id="rId7"/>
    <p:sldId id="503" r:id="rId8"/>
    <p:sldId id="498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76" d="100"/>
          <a:sy n="76" d="100"/>
        </p:scale>
        <p:origin x="-252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C12C6E-9196-4BCE-B794-8D13639325CF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420006-6BEC-4864-89E4-7EC98E5DF1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01821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1/5/2012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EA ZC451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Box 16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 smtClean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pic>
        <p:nvPicPr>
          <p:cNvPr id="18" name="Picture 17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 smtClean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pic>
        <p:nvPicPr>
          <p:cNvPr id="7" name="Picture 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grpSp>
        <p:nvGrpSpPr>
          <p:cNvPr id="8" name="Group 7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1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13" name="Rectangle 12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rotWithShape="1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BITS_university_logo_whitevert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2" b="28592"/>
          <a:stretch/>
        </p:blipFill>
        <p:spPr>
          <a:xfrm>
            <a:off x="76200" y="3352800"/>
            <a:ext cx="2057400" cy="1980000"/>
          </a:xfrm>
          <a:prstGeom prst="rect">
            <a:avLst/>
          </a:prstGeom>
        </p:spPr>
      </p:pic>
      <p:grpSp>
        <p:nvGrpSpPr>
          <p:cNvPr id="3" name="Group 9"/>
          <p:cNvGrpSpPr/>
          <p:nvPr userDrawn="1"/>
        </p:nvGrpSpPr>
        <p:grpSpPr>
          <a:xfrm>
            <a:off x="-76200" y="5257800"/>
            <a:ext cx="2209800" cy="685800"/>
            <a:chOff x="76200" y="2209800"/>
            <a:chExt cx="2209800" cy="685800"/>
          </a:xfrm>
        </p:grpSpPr>
        <p:sp>
          <p:nvSpPr>
            <p:cNvPr id="11" name="TextBox 10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900" b="1" spc="-150" dirty="0" smtClean="0">
                  <a:solidFill>
                    <a:schemeClr val="bg1"/>
                  </a:solidFill>
                  <a:latin typeface="Arial"/>
                  <a:cs typeface="Arial"/>
                </a:rPr>
                <a:t>BITS</a:t>
              </a:r>
              <a:r>
                <a:rPr lang="en-US" sz="2900" spc="-150" dirty="0" smtClean="0">
                  <a:solidFill>
                    <a:schemeClr val="bg1"/>
                  </a:solidFill>
                  <a:latin typeface="Arial"/>
                  <a:cs typeface="Arial"/>
                </a:rPr>
                <a:t> Pilani</a:t>
              </a:r>
              <a:endParaRPr lang="en-US" sz="2900" spc="-150" dirty="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  <p:sp>
          <p:nvSpPr>
            <p:cNvPr id="12" name="TextBox 11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spc="-150" dirty="0" smtClean="0">
                  <a:solidFill>
                    <a:srgbClr val="FFFFFF"/>
                  </a:solidFill>
                  <a:latin typeface="Arial"/>
                  <a:cs typeface="Arial"/>
                </a:rPr>
                <a:t>Pilani | Dubai</a:t>
              </a:r>
              <a:r>
                <a:rPr lang="en-US" sz="900" spc="-150" baseline="0" dirty="0" smtClean="0">
                  <a:solidFill>
                    <a:srgbClr val="FFFFFF"/>
                  </a:solidFill>
                  <a:latin typeface="Arial"/>
                  <a:cs typeface="Arial"/>
                </a:rPr>
                <a:t> | Goa | Hyderabad</a:t>
              </a:r>
              <a:endParaRPr lang="en-US" sz="900" spc="-150" dirty="0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</p:grp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2514600" y="5410200"/>
            <a:ext cx="6019800" cy="533400"/>
          </a:xfrm>
        </p:spPr>
        <p:txBody>
          <a:bodyPr anchor="b" anchorCtr="0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 smtClean="0"/>
              <a:t>Presenter details comes here</a:t>
            </a:r>
          </a:p>
          <a:p>
            <a:pPr lvl="0"/>
            <a:r>
              <a:rPr lang="en-GB" dirty="0" smtClean="0"/>
              <a:t>Date and other details can come here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14600" y="3810000"/>
            <a:ext cx="6019800" cy="1524000"/>
          </a:xfrm>
        </p:spPr>
        <p:txBody>
          <a:bodyPr anchor="ctr"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GB" dirty="0" smtClean="0"/>
              <a:t>Please enter the presentation title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36243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 userDrawn="1"/>
        </p:nvSpPr>
        <p:spPr>
          <a:xfrm>
            <a:off x="0" y="4282182"/>
            <a:ext cx="9144000" cy="25758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17" name="Content Placeholder 16"/>
          <p:cNvSpPr>
            <a:spLocks noGrp="1"/>
          </p:cNvSpPr>
          <p:nvPr>
            <p:ph sz="quarter" idx="10" hasCustomPrompt="1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Topic headings here </a:t>
            </a:r>
          </a:p>
          <a:p>
            <a:pPr lvl="0"/>
            <a:r>
              <a:rPr lang="en-US" dirty="0" smtClean="0"/>
              <a:t>(separator - can run in two lines)</a:t>
            </a:r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 userDrawn="1"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1"/>
          <p:cNvGrpSpPr/>
          <p:nvPr userDrawn="1"/>
        </p:nvGrpSpPr>
        <p:grpSpPr>
          <a:xfrm>
            <a:off x="6858000" y="762000"/>
            <a:ext cx="2209800" cy="685800"/>
            <a:chOff x="76200" y="2209800"/>
            <a:chExt cx="2209800" cy="685800"/>
          </a:xfrm>
        </p:grpSpPr>
        <p:sp>
          <p:nvSpPr>
            <p:cNvPr id="13" name="TextBox 12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900" b="1" spc="-150" dirty="0" smtClean="0">
                  <a:solidFill>
                    <a:schemeClr val="bg1"/>
                  </a:solidFill>
                  <a:latin typeface="Arial"/>
                  <a:cs typeface="Arial"/>
                </a:rPr>
                <a:t>BITS</a:t>
              </a:r>
              <a:r>
                <a:rPr lang="en-US" sz="2900" spc="-150" dirty="0" smtClean="0">
                  <a:solidFill>
                    <a:schemeClr val="bg1"/>
                  </a:solidFill>
                  <a:latin typeface="Arial"/>
                  <a:cs typeface="Arial"/>
                </a:rPr>
                <a:t> Pilani</a:t>
              </a:r>
              <a:endParaRPr lang="en-US" sz="2900" spc="-150" dirty="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  <p:sp>
          <p:nvSpPr>
            <p:cNvPr id="14" name="TextBox 13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spc="-150" dirty="0" smtClean="0">
                  <a:solidFill>
                    <a:srgbClr val="FFFFFF"/>
                  </a:solidFill>
                  <a:latin typeface="Arial"/>
                  <a:cs typeface="Arial"/>
                </a:rPr>
                <a:t>Pilani | Dubai</a:t>
              </a:r>
              <a:r>
                <a:rPr lang="en-US" sz="900" spc="-150" baseline="0" dirty="0" smtClean="0">
                  <a:solidFill>
                    <a:srgbClr val="FFFFFF"/>
                  </a:solidFill>
                  <a:latin typeface="Arial"/>
                  <a:cs typeface="Arial"/>
                </a:rPr>
                <a:t> | Goa | Hyderabad</a:t>
              </a:r>
              <a:endParaRPr lang="en-US" sz="900" spc="-150" dirty="0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 userDrawn="1"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 smtClean="0"/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 hasCustomPrompt="1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19" name="Content Placeholder 18"/>
          <p:cNvSpPr>
            <a:spLocks noGrp="1"/>
          </p:cNvSpPr>
          <p:nvPr userDrawn="1"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" name="Group 19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28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TextBox 32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 smtClean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 userDrawn="1"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 smtClean="0"/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 hasCustomPrompt="1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19" name="Content Placeholder 18"/>
          <p:cNvSpPr>
            <a:spLocks noGrp="1"/>
          </p:cNvSpPr>
          <p:nvPr userDrawn="1"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" name="Group 19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28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TextBox 32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 smtClean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 userDrawn="1"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 smtClean="0"/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 hasCustomPrompt="1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19" name="Content Placeholder 18"/>
          <p:cNvSpPr>
            <a:spLocks noGrp="1"/>
          </p:cNvSpPr>
          <p:nvPr userDrawn="1"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" name="Group 19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28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TextBox 32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 smtClean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 userDrawn="1"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 smtClean="0"/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 hasCustomPrompt="1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19" name="Content Placeholder 18"/>
          <p:cNvSpPr>
            <a:spLocks noGrp="1"/>
          </p:cNvSpPr>
          <p:nvPr userDrawn="1"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" name="Group 19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28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TextBox 32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 smtClean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 userDrawn="1"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 smtClean="0"/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 hasCustomPrompt="1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19" name="Content Placeholder 18"/>
          <p:cNvSpPr>
            <a:spLocks noGrp="1"/>
          </p:cNvSpPr>
          <p:nvPr userDrawn="1"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" name="Group 19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28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TextBox 32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 smtClean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.v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2.v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6.xml"/><Relationship Id="rId1" Type="http://schemas.openxmlformats.org/officeDocument/2006/relationships/vmlDrawing" Target="../drawings/vmlDrawing3.v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4.v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5.v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828800" y="3352800"/>
            <a:ext cx="6781800" cy="1600200"/>
          </a:xfrm>
        </p:spPr>
        <p:txBody>
          <a:bodyPr/>
          <a:lstStyle/>
          <a:p>
            <a:pPr algn="ctr"/>
            <a:r>
              <a:rPr lang="en-US" sz="3200" dirty="0" smtClean="0"/>
              <a:t>Object Oriented Analysis &amp; Design</a:t>
            </a:r>
            <a:br>
              <a:rPr lang="en-US" sz="3200" dirty="0" smtClean="0"/>
            </a:br>
            <a:r>
              <a:rPr lang="en-US" sz="3200" dirty="0" smtClean="0"/>
              <a:t>Module-7 (RL 7.2.4)</a:t>
            </a:r>
            <a:endParaRPr lang="en-US" sz="3200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>
          <a:xfrm>
            <a:off x="2514600" y="5029200"/>
            <a:ext cx="6019800" cy="1066800"/>
          </a:xfrm>
        </p:spPr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err="1" smtClean="0">
                <a:solidFill>
                  <a:srgbClr val="FFC000"/>
                </a:solidFill>
              </a:rPr>
              <a:t>Harvinder</a:t>
            </a:r>
            <a:r>
              <a:rPr lang="en-US" dirty="0" smtClean="0">
                <a:solidFill>
                  <a:srgbClr val="FFC000"/>
                </a:solidFill>
              </a:rPr>
              <a:t> S </a:t>
            </a:r>
            <a:r>
              <a:rPr lang="en-US" dirty="0" err="1" smtClean="0">
                <a:solidFill>
                  <a:srgbClr val="FFC000"/>
                </a:solidFill>
              </a:rPr>
              <a:t>Jabbal</a:t>
            </a:r>
            <a:endParaRPr lang="en-US" dirty="0" smtClean="0">
              <a:solidFill>
                <a:srgbClr val="FFC000"/>
              </a:solidFill>
            </a:endParaRPr>
          </a:p>
          <a:p>
            <a:endParaRPr lang="en-US" dirty="0" smtClean="0">
              <a:solidFill>
                <a:srgbClr val="FFC000"/>
              </a:solidFill>
            </a:endParaRPr>
          </a:p>
          <a:p>
            <a:endParaRPr lang="en-US" dirty="0" smtClean="0">
              <a:solidFill>
                <a:srgbClr val="FFC000"/>
              </a:solidFill>
            </a:endParaRPr>
          </a:p>
          <a:p>
            <a:endParaRPr lang="en-US" dirty="0" smtClean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36614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76200" y="5029200"/>
            <a:ext cx="8763000" cy="1676400"/>
          </a:xfrm>
        </p:spPr>
        <p:txBody>
          <a:bodyPr/>
          <a:lstStyle/>
          <a:p>
            <a:r>
              <a:rPr lang="en-IN" sz="2800" b="0" dirty="0" smtClean="0"/>
              <a:t>Application of Strategy Pattern to </a:t>
            </a:r>
            <a:r>
              <a:rPr lang="en-IN" sz="2800" b="0" dirty="0" err="1" smtClean="0"/>
              <a:t>PoS.</a:t>
            </a:r>
            <a:r>
              <a:rPr lang="en-IN" sz="2800" dirty="0" smtClean="0"/>
              <a:t>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xmlns="" val="1090735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5786446" y="1357299"/>
            <a:ext cx="3205154" cy="3429024"/>
          </a:xfrm>
        </p:spPr>
        <p:txBody>
          <a:bodyPr>
            <a:normAutofit fontScale="85000" lnSpcReduction="20000"/>
          </a:bodyPr>
          <a:lstStyle/>
          <a:p>
            <a:pPr>
              <a:buFont typeface="Arial" pitchFamily="34" charset="0"/>
              <a:buChar char="•"/>
            </a:pPr>
            <a:r>
              <a:rPr lang="en-IN" dirty="0" smtClean="0"/>
              <a:t>We create multiple </a:t>
            </a:r>
            <a:r>
              <a:rPr lang="en-IN" dirty="0" err="1" smtClean="0"/>
              <a:t>SalePricingStrategy</a:t>
            </a:r>
            <a:r>
              <a:rPr lang="en-IN" dirty="0" smtClean="0"/>
              <a:t> classes.</a:t>
            </a:r>
          </a:p>
          <a:p>
            <a:pPr>
              <a:buFont typeface="Arial" pitchFamily="34" charset="0"/>
              <a:buChar char="•"/>
            </a:pPr>
            <a:r>
              <a:rPr lang="en-IN" dirty="0" smtClean="0"/>
              <a:t>Each has a polymorphic </a:t>
            </a:r>
            <a:r>
              <a:rPr lang="en-IN" dirty="0" err="1" smtClean="0"/>
              <a:t>getTotal</a:t>
            </a:r>
            <a:r>
              <a:rPr lang="en-IN" dirty="0" smtClean="0"/>
              <a:t> method</a:t>
            </a:r>
          </a:p>
          <a:p>
            <a:pPr>
              <a:buFont typeface="Arial" pitchFamily="34" charset="0"/>
              <a:buChar char="•"/>
            </a:pPr>
            <a:r>
              <a:rPr lang="en-IN" dirty="0" smtClean="0"/>
              <a:t>Each </a:t>
            </a:r>
            <a:r>
              <a:rPr lang="en-IN" dirty="0" err="1" smtClean="0"/>
              <a:t>getTotal</a:t>
            </a:r>
            <a:r>
              <a:rPr lang="en-IN" dirty="0" smtClean="0"/>
              <a:t> takes the Sale object as a parameter to find the pre-discount price.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 smtClean="0"/>
              <a:t>Pricing Strategy Classes</a:t>
            </a:r>
            <a:endParaRPr lang="en-IN" dirty="0"/>
          </a:p>
        </p:txBody>
      </p:sp>
      <p:graphicFrame>
        <p:nvGraphicFramePr>
          <p:cNvPr id="38914" name="Object 2"/>
          <p:cNvGraphicFramePr>
            <a:graphicFrameLocks noGrp="1" noChangeAspect="1"/>
          </p:cNvGraphicFramePr>
          <p:nvPr>
            <p:ph sz="half" idx="1"/>
          </p:nvPr>
        </p:nvGraphicFramePr>
        <p:xfrm>
          <a:off x="0" y="1428736"/>
          <a:ext cx="5643570" cy="5000660"/>
        </p:xfrm>
        <a:graphic>
          <a:graphicData uri="http://schemas.openxmlformats.org/presentationml/2006/ole">
            <p:oleObj spid="_x0000_s1026" name="Visio" r:id="rId3" imgW="6468840" imgH="419472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457200" y="4286256"/>
            <a:ext cx="4038600" cy="1839907"/>
          </a:xfrm>
        </p:spPr>
        <p:txBody>
          <a:bodyPr>
            <a:normAutofit fontScale="92500"/>
          </a:bodyPr>
          <a:lstStyle/>
          <a:p>
            <a:pPr>
              <a:buFont typeface="Arial" pitchFamily="34" charset="0"/>
              <a:buChar char="•"/>
            </a:pPr>
            <a:r>
              <a:rPr lang="en-IN" dirty="0" smtClean="0"/>
              <a:t>When a </a:t>
            </a:r>
            <a:r>
              <a:rPr lang="en-IN" dirty="0" err="1" smtClean="0"/>
              <a:t>getTotal</a:t>
            </a:r>
            <a:r>
              <a:rPr lang="en-IN" dirty="0" smtClean="0"/>
              <a:t> message is sent to Sale it delegates some of the work to its strategy object.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 smtClean="0"/>
              <a:t>Strategy in collaboration</a:t>
            </a:r>
            <a:endParaRPr lang="en-IN" dirty="0"/>
          </a:p>
        </p:txBody>
      </p:sp>
      <p:graphicFrame>
        <p:nvGraphicFramePr>
          <p:cNvPr id="39938" name="Object 2"/>
          <p:cNvGraphicFramePr>
            <a:graphicFrameLocks noGrp="1" noChangeAspect="1"/>
          </p:cNvGraphicFramePr>
          <p:nvPr>
            <p:ph sz="half" idx="2"/>
          </p:nvPr>
        </p:nvGraphicFramePr>
        <p:xfrm>
          <a:off x="500034" y="1428736"/>
          <a:ext cx="8539194" cy="2643206"/>
        </p:xfrm>
        <a:graphic>
          <a:graphicData uri="http://schemas.openxmlformats.org/presentationml/2006/ole">
            <p:oleObj spid="_x0000_s2050" name="Visio" r:id="rId3" imgW="6146280" imgH="227556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 smtClean="0"/>
              <a:t>Context object needs attribute visibility to its strategy</a:t>
            </a:r>
            <a:endParaRPr lang="en-IN" dirty="0"/>
          </a:p>
        </p:txBody>
      </p:sp>
      <p:graphicFrame>
        <p:nvGraphicFramePr>
          <p:cNvPr id="40962" name="Object 2"/>
          <p:cNvGraphicFramePr>
            <a:graphicFrameLocks noGrp="1" noChangeAspect="1"/>
          </p:cNvGraphicFramePr>
          <p:nvPr>
            <p:ph sz="half" idx="1"/>
          </p:nvPr>
        </p:nvGraphicFramePr>
        <p:xfrm>
          <a:off x="0" y="1500174"/>
          <a:ext cx="5715008" cy="4714908"/>
        </p:xfrm>
        <a:graphic>
          <a:graphicData uri="http://schemas.openxmlformats.org/presentationml/2006/ole">
            <p:oleObj spid="_x0000_s3074" name="Visio" r:id="rId3" imgW="5761440" imgH="3484440" progId="">
              <p:embed/>
            </p:oleObj>
          </a:graphicData>
        </a:graphic>
      </p:graphicFrame>
      <p:sp>
        <p:nvSpPr>
          <p:cNvPr id="5" name="Content Placeholder 1"/>
          <p:cNvSpPr>
            <a:spLocks noGrp="1"/>
          </p:cNvSpPr>
          <p:nvPr>
            <p:ph sz="half" idx="2"/>
          </p:nvPr>
        </p:nvSpPr>
        <p:spPr>
          <a:xfrm>
            <a:off x="5643570" y="1600200"/>
            <a:ext cx="3348030" cy="4525963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IN" dirty="0" smtClean="0"/>
              <a:t>Note that the context object (Sale) needs attribute visibility to its strategy.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IN" dirty="0" smtClean="0"/>
              <a:t>As with most factories, the </a:t>
            </a:r>
            <a:r>
              <a:rPr lang="en-IN" dirty="0" err="1" smtClean="0"/>
              <a:t>PricingStrategyFactory</a:t>
            </a:r>
            <a:r>
              <a:rPr lang="en-IN" dirty="0" smtClean="0"/>
              <a:t> will be a singleton and access via the Singleton pattern.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 smtClean="0"/>
              <a:t>Factory for Strategies</a:t>
            </a:r>
            <a:endParaRPr lang="en-IN" dirty="0"/>
          </a:p>
        </p:txBody>
      </p:sp>
      <p:graphicFrame>
        <p:nvGraphicFramePr>
          <p:cNvPr id="41986" name="Object 2"/>
          <p:cNvGraphicFramePr>
            <a:graphicFrameLocks noGrp="1" noChangeAspect="1"/>
          </p:cNvGraphicFramePr>
          <p:nvPr>
            <p:ph sz="half" idx="1"/>
          </p:nvPr>
        </p:nvGraphicFramePr>
        <p:xfrm>
          <a:off x="0" y="1500174"/>
          <a:ext cx="5643570" cy="4572032"/>
        </p:xfrm>
        <a:graphic>
          <a:graphicData uri="http://schemas.openxmlformats.org/presentationml/2006/ole">
            <p:oleObj spid="_x0000_s4098" name="Visio" r:id="rId3" imgW="4653720" imgH="267012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457200" y="4714884"/>
            <a:ext cx="4038600" cy="1411279"/>
          </a:xfrm>
        </p:spPr>
        <p:txBody>
          <a:bodyPr>
            <a:normAutofit fontScale="92500" lnSpcReduction="20000"/>
          </a:bodyPr>
          <a:lstStyle/>
          <a:p>
            <a:pPr>
              <a:buFont typeface="Arial" pitchFamily="34" charset="0"/>
              <a:buChar char="•"/>
            </a:pPr>
            <a:r>
              <a:rPr lang="en-IN" dirty="0" smtClean="0"/>
              <a:t>When a Sales instance is created, it can ask the factory for its pricing strategy.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 smtClean="0"/>
              <a:t>Creating a strategy</a:t>
            </a:r>
            <a:endParaRPr lang="en-IN" dirty="0"/>
          </a:p>
        </p:txBody>
      </p:sp>
      <p:graphicFrame>
        <p:nvGraphicFramePr>
          <p:cNvPr id="43010" name="Object 2"/>
          <p:cNvGraphicFramePr>
            <a:graphicFrameLocks noGrp="1" noChangeAspect="1"/>
          </p:cNvGraphicFramePr>
          <p:nvPr>
            <p:ph sz="half" idx="2"/>
          </p:nvPr>
        </p:nvGraphicFramePr>
        <p:xfrm>
          <a:off x="357158" y="1571612"/>
          <a:ext cx="8539194" cy="2928958"/>
        </p:xfrm>
        <a:graphic>
          <a:graphicData uri="http://schemas.openxmlformats.org/presentationml/2006/ole">
            <p:oleObj spid="_x0000_s5122" name="Visio" r:id="rId3" imgW="6821280" imgH="187056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 smtClean="0"/>
              <a:t>Acknowledgement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 smtClean="0"/>
              <a:t>Slides are based on Course Text Books:</a:t>
            </a:r>
          </a:p>
          <a:p>
            <a:endParaRPr lang="en-IN" dirty="0" smtClean="0"/>
          </a:p>
          <a:p>
            <a:pPr lvl="1"/>
            <a:r>
              <a:rPr lang="en-IN" dirty="0" smtClean="0"/>
              <a:t>Applying UMP and Patterns (An Introduction to Object-Oriented Analysis and Design and Iterative Development) : Craig </a:t>
            </a:r>
            <a:r>
              <a:rPr lang="en-IN" dirty="0" err="1" smtClean="0"/>
              <a:t>Larman</a:t>
            </a:r>
            <a:endParaRPr lang="en-IN" dirty="0" smtClean="0"/>
          </a:p>
          <a:p>
            <a:pPr lvl="1"/>
            <a:r>
              <a:rPr lang="en-IN" dirty="0" smtClean="0"/>
              <a:t>UMP Distilled (A Brief Guide to the Standard Object </a:t>
            </a:r>
            <a:r>
              <a:rPr lang="en-IN" dirty="0" err="1" smtClean="0"/>
              <a:t>Modeling</a:t>
            </a:r>
            <a:r>
              <a:rPr lang="en-IN" dirty="0" smtClean="0"/>
              <a:t> </a:t>
            </a:r>
            <a:r>
              <a:rPr lang="en-IN" dirty="0" err="1" smtClean="0"/>
              <a:t>Langauge</a:t>
            </a:r>
            <a:r>
              <a:rPr lang="en-IN" dirty="0" smtClean="0"/>
              <a:t>) : Martin Fowler</a:t>
            </a:r>
          </a:p>
          <a:p>
            <a:pPr lvl="1"/>
            <a:r>
              <a:rPr lang="en-IN" dirty="0" smtClean="0"/>
              <a:t>Design Patterns (Elements of Reusable Object-Oriented Software) : </a:t>
            </a:r>
            <a:r>
              <a:rPr lang="en-IN" dirty="0" err="1" smtClean="0"/>
              <a:t>GoF</a:t>
            </a:r>
            <a:r>
              <a:rPr lang="en-IN" dirty="0" smtClean="0"/>
              <a:t> </a:t>
            </a:r>
          </a:p>
          <a:p>
            <a:pPr lvl="1">
              <a:buNone/>
            </a:pPr>
            <a:r>
              <a:rPr lang="en-IN" dirty="0" smtClean="0"/>
              <a:t>	Erich Gama | Richard Helm | </a:t>
            </a:r>
          </a:p>
          <a:p>
            <a:pPr lvl="1">
              <a:buNone/>
            </a:pPr>
            <a:r>
              <a:rPr lang="en-IN" dirty="0" smtClean="0"/>
              <a:t>	Ralph Johnson | John </a:t>
            </a:r>
            <a:r>
              <a:rPr lang="en-IN" dirty="0" err="1" smtClean="0"/>
              <a:t>Vlissides</a:t>
            </a:r>
            <a:r>
              <a:rPr lang="en-IN" dirty="0" smtClean="0"/>
              <a:t>.</a:t>
            </a:r>
          </a:p>
          <a:p>
            <a:pPr lvl="1">
              <a:buNone/>
            </a:pPr>
            <a:endParaRPr lang="en-I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2520</TotalTime>
  <Words>186</Words>
  <Application>Microsoft Office PowerPoint</Application>
  <PresentationFormat>On-screen Show (4:3)</PresentationFormat>
  <Paragraphs>130</Paragraphs>
  <Slides>8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Office Theme</vt:lpstr>
      <vt:lpstr>Visio</vt:lpstr>
      <vt:lpstr>Object Oriented Analysis &amp; Design Module-7 (RL 7.2.4)</vt:lpstr>
      <vt:lpstr>Slide 2</vt:lpstr>
      <vt:lpstr>Slide 3</vt:lpstr>
      <vt:lpstr>Slide 4</vt:lpstr>
      <vt:lpstr>Slide 5</vt:lpstr>
      <vt:lpstr>Slide 6</vt:lpstr>
      <vt:lpstr>Slide 7</vt:lpstr>
      <vt:lpstr>Acknowledgement</vt:lpstr>
    </vt:vector>
  </TitlesOfParts>
  <Company>bits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 ZC451 (Lecture #2)</dc:title>
  <dc:creator>ipc</dc:creator>
  <cp:lastModifiedBy>Harvinder Jabbal</cp:lastModifiedBy>
  <cp:revision>268</cp:revision>
  <dcterms:created xsi:type="dcterms:W3CDTF">2012-01-04T06:56:57Z</dcterms:created>
  <dcterms:modified xsi:type="dcterms:W3CDTF">2015-02-26T07:44:08Z</dcterms:modified>
</cp:coreProperties>
</file>