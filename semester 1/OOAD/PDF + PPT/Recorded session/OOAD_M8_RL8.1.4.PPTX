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90" r:id="rId2"/>
    <p:sldId id="491" r:id="rId3"/>
    <p:sldId id="499" r:id="rId4"/>
    <p:sldId id="500" r:id="rId5"/>
    <p:sldId id="501" r:id="rId6"/>
    <p:sldId id="502" r:id="rId7"/>
    <p:sldId id="49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1565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2C6E-9196-4BCE-B794-8D13639325CF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06-6BEC-4864-89E4-7EC98E5DF1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182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1/5/2012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EA ZC451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7" name="Picture 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6781800" cy="1600200"/>
          </a:xfrm>
        </p:spPr>
        <p:txBody>
          <a:bodyPr/>
          <a:lstStyle/>
          <a:p>
            <a:pPr algn="ctr"/>
            <a:r>
              <a:rPr lang="en-US" sz="3200" dirty="0" smtClean="0"/>
              <a:t>Object Oriented Analysis &amp; Design</a:t>
            </a:r>
            <a:br>
              <a:rPr lang="en-US" sz="3200" dirty="0" smtClean="0"/>
            </a:br>
            <a:r>
              <a:rPr lang="en-US" sz="3200" dirty="0" smtClean="0"/>
              <a:t>Module-8 (RL 8.1.4)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029200"/>
            <a:ext cx="6019800" cy="1066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FFC000"/>
                </a:solidFill>
              </a:rPr>
              <a:t>Harvinder</a:t>
            </a:r>
            <a:r>
              <a:rPr lang="en-US" dirty="0" smtClean="0">
                <a:solidFill>
                  <a:srgbClr val="FFC000"/>
                </a:solidFill>
              </a:rPr>
              <a:t> S </a:t>
            </a:r>
            <a:r>
              <a:rPr lang="en-US" dirty="0" err="1" smtClean="0">
                <a:solidFill>
                  <a:srgbClr val="FFC000"/>
                </a:solidFill>
              </a:rPr>
              <a:t>Jabbal</a:t>
            </a:r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6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5029200"/>
            <a:ext cx="8763000" cy="1676400"/>
          </a:xfrm>
        </p:spPr>
        <p:txBody>
          <a:bodyPr/>
          <a:lstStyle/>
          <a:p>
            <a:r>
              <a:rPr lang="en-IN" sz="2800" b="0" dirty="0" smtClean="0"/>
              <a:t>Application of Facade Pattern to </a:t>
            </a:r>
            <a:r>
              <a:rPr lang="en-IN" sz="2800" b="0" dirty="0" err="1" smtClean="0"/>
              <a:t>PoS.</a:t>
            </a:r>
            <a:r>
              <a:rPr lang="en-IN" sz="280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090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Façade Pattern</a:t>
            </a:r>
          </a:p>
        </p:txBody>
      </p:sp>
      <p:sp>
        <p:nvSpPr>
          <p:cNvPr id="37888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495800" cy="4800600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/>
              <a:t>Provide a simple interface onto a complex interface.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Encapsulate generalities</a:t>
            </a:r>
          </a:p>
          <a:p>
            <a:pPr lvl="2">
              <a:lnSpc>
                <a:spcPct val="80000"/>
              </a:lnSpc>
            </a:pPr>
            <a:r>
              <a:rPr lang="en-US" sz="1600"/>
              <a:t>ProductDB instead of SQL.</a:t>
            </a:r>
          </a:p>
          <a:p>
            <a:pPr lvl="2">
              <a:lnSpc>
                <a:spcPct val="80000"/>
              </a:lnSpc>
            </a:pPr>
            <a:r>
              <a:rPr lang="en-US" sz="1600"/>
              <a:t>EmployeeDB instead of SQL</a:t>
            </a:r>
          </a:p>
          <a:p>
            <a:pPr>
              <a:lnSpc>
                <a:spcPct val="80000"/>
              </a:lnSpc>
            </a:pPr>
            <a:r>
              <a:rPr lang="en-US" sz="2000"/>
              <a:t>Decouple clients from a package.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The implementation a façade hides can change without impacting the clients</a:t>
            </a:r>
          </a:p>
          <a:p>
            <a:pPr>
              <a:lnSpc>
                <a:spcPct val="80000"/>
              </a:lnSpc>
            </a:pPr>
            <a:r>
              <a:rPr lang="en-US" sz="2000"/>
              <a:t>Creating layers in the system.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a single point of entry allows the system to enforce new rules in a central location</a:t>
            </a:r>
          </a:p>
          <a:p>
            <a:pPr lvl="2">
              <a:lnSpc>
                <a:spcPct val="80000"/>
              </a:lnSpc>
            </a:pPr>
            <a:r>
              <a:rPr lang="en-US" sz="1600"/>
              <a:t>ProductDB could check enforce rebate/recall notices.</a:t>
            </a:r>
            <a:r>
              <a:rPr lang="en-US" sz="2000"/>
              <a:t> </a:t>
            </a:r>
          </a:p>
        </p:txBody>
      </p:sp>
      <p:graphicFrame>
        <p:nvGraphicFramePr>
          <p:cNvPr id="378885" name="Object 5"/>
          <p:cNvGraphicFramePr>
            <a:graphicFrameLocks noChangeAspect="1"/>
          </p:cNvGraphicFramePr>
          <p:nvPr/>
        </p:nvGraphicFramePr>
        <p:xfrm>
          <a:off x="5334000" y="1654175"/>
          <a:ext cx="3505200" cy="4137025"/>
        </p:xfrm>
        <a:graphic>
          <a:graphicData uri="http://schemas.openxmlformats.org/presentationml/2006/ole">
            <p:oleObj spid="_x0000_s1026" name="Visio" r:id="rId3" imgW="2320587" imgH="2549215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Facade</a:t>
            </a:r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When disparate sets of objects need a single point of contact…</a:t>
            </a:r>
          </a:p>
          <a:p>
            <a:r>
              <a:rPr lang="en-US"/>
              <a:t>Create a “façade” object to represent the</a:t>
            </a:r>
          </a:p>
          <a:p>
            <a:pPr>
              <a:buFontTx/>
              <a:buNone/>
            </a:pPr>
            <a:r>
              <a:rPr lang="en-US"/>
              <a:t>	entire sub-system.</a:t>
            </a:r>
          </a:p>
          <a:p>
            <a:r>
              <a:rPr lang="en-US"/>
              <a:t>Same as the controller pattern.</a:t>
            </a:r>
          </a:p>
          <a:p>
            <a:r>
              <a:rPr lang="en-US"/>
              <a:t>E.g. Register Object. Change in implementation of domain objects (Sale, Payment does not affect on client)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457200" y="1428736"/>
          <a:ext cx="4471990" cy="5000660"/>
        </p:xfrm>
        <a:graphic>
          <a:graphicData uri="http://schemas.openxmlformats.org/presentationml/2006/ole">
            <p:oleObj spid="_x0000_s2050" name="Visio" r:id="rId3" imgW="5739480" imgH="5527440" progId="">
              <p:embed/>
            </p:oleObj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929190" y="1428736"/>
            <a:ext cx="4038600" cy="2900370"/>
          </a:xfrm>
        </p:spPr>
        <p:txBody>
          <a:bodyPr/>
          <a:lstStyle/>
          <a:p>
            <a:pPr marL="0" indent="19050"/>
            <a:r>
              <a:rPr lang="en-IN" dirty="0" smtClean="0"/>
              <a:t>The assignment of responsibility for systems operation may be assigned to one or more classes. See examples on left.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System </a:t>
            </a:r>
            <a:r>
              <a:rPr lang="en-IN" dirty="0" err="1" smtClean="0"/>
              <a:t>Behavious</a:t>
            </a:r>
            <a:r>
              <a:rPr lang="en-IN" dirty="0" smtClean="0"/>
              <a:t> Analysis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86172" cy="4525963"/>
          </a:xfrm>
        </p:spPr>
        <p:txBody>
          <a:bodyPr>
            <a:normAutofit fontScale="775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Controller is basically a delegation pattern.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It does not itself do work.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UI Layer should not get involved with business logic.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Controller pattern common choices of developer with respect to domain object delegate that receive the work request.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Controller is a façade for the domain layer from UI layer.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Assignment by UI Layer</a:t>
            </a:r>
            <a:endParaRPr lang="en-IN" dirty="0"/>
          </a:p>
        </p:txBody>
      </p:sp>
      <p:graphicFrame>
        <p:nvGraphicFramePr>
          <p:cNvPr id="26626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4000496" y="1357298"/>
          <a:ext cx="4967294" cy="3143272"/>
        </p:xfrm>
        <a:graphic>
          <a:graphicData uri="http://schemas.openxmlformats.org/presentationml/2006/ole">
            <p:oleObj spid="_x0000_s3074" name="Visio" r:id="rId3" imgW="5664960" imgH="43920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Acknowledgement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Slides are based on Course Text Books:</a:t>
            </a:r>
          </a:p>
          <a:p>
            <a:endParaRPr lang="en-IN" dirty="0" smtClean="0"/>
          </a:p>
          <a:p>
            <a:pPr lvl="1"/>
            <a:r>
              <a:rPr lang="en-IN" dirty="0" smtClean="0"/>
              <a:t>Applying UMP and Patterns (An Introduction to Object-Oriented Analysis and Design and Iterative Development) : Craig </a:t>
            </a:r>
            <a:r>
              <a:rPr lang="en-IN" dirty="0" err="1" smtClean="0"/>
              <a:t>Larman</a:t>
            </a:r>
            <a:endParaRPr lang="en-IN" dirty="0" smtClean="0"/>
          </a:p>
          <a:p>
            <a:pPr lvl="1"/>
            <a:r>
              <a:rPr lang="en-IN" dirty="0" smtClean="0"/>
              <a:t>UMP Distilled (A Brief Guide to the Standard Object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  <a:r>
              <a:rPr lang="en-IN" dirty="0" err="1" smtClean="0"/>
              <a:t>Langauge</a:t>
            </a:r>
            <a:r>
              <a:rPr lang="en-IN" dirty="0" smtClean="0"/>
              <a:t>) : Martin Fowler</a:t>
            </a:r>
          </a:p>
          <a:p>
            <a:pPr lvl="1"/>
            <a:r>
              <a:rPr lang="en-IN" dirty="0" smtClean="0"/>
              <a:t>Design Patterns (Elements of Reusable Object-Oriented Software) : </a:t>
            </a:r>
            <a:r>
              <a:rPr lang="en-IN" dirty="0" err="1" smtClean="0"/>
              <a:t>GoF</a:t>
            </a:r>
            <a:r>
              <a:rPr lang="en-IN" dirty="0" smtClean="0"/>
              <a:t> </a:t>
            </a:r>
          </a:p>
          <a:p>
            <a:pPr lvl="1">
              <a:buNone/>
            </a:pPr>
            <a:r>
              <a:rPr lang="en-IN" dirty="0" smtClean="0"/>
              <a:t>	Erich Gama | Richard Helm | </a:t>
            </a:r>
          </a:p>
          <a:p>
            <a:pPr lvl="1">
              <a:buNone/>
            </a:pPr>
            <a:r>
              <a:rPr lang="en-IN" dirty="0" smtClean="0"/>
              <a:t>	Ralph Johnson | John </a:t>
            </a:r>
            <a:r>
              <a:rPr lang="en-IN" dirty="0" err="1" smtClean="0"/>
              <a:t>Vlissides</a:t>
            </a:r>
            <a:r>
              <a:rPr lang="en-IN" dirty="0" smtClean="0"/>
              <a:t>.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2484</TotalTime>
  <Words>243</Words>
  <Application>Microsoft Office PowerPoint</Application>
  <PresentationFormat>On-screen Show (4:3)</PresentationFormat>
  <Paragraphs>142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Visio</vt:lpstr>
      <vt:lpstr>Object Oriented Analysis &amp; Design Module-8 (RL 8.1.4)</vt:lpstr>
      <vt:lpstr>Slide 2</vt:lpstr>
      <vt:lpstr>Façade Pattern</vt:lpstr>
      <vt:lpstr>Facade</vt:lpstr>
      <vt:lpstr>Slide 5</vt:lpstr>
      <vt:lpstr>Slide 6</vt:lpstr>
      <vt:lpstr>Acknowledgement</vt:lpstr>
    </vt:vector>
  </TitlesOfParts>
  <Company>bits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Harvinder Jabbal</cp:lastModifiedBy>
  <cp:revision>265</cp:revision>
  <dcterms:created xsi:type="dcterms:W3CDTF">2012-01-04T06:56:57Z</dcterms:created>
  <dcterms:modified xsi:type="dcterms:W3CDTF">2015-02-26T04:35:55Z</dcterms:modified>
</cp:coreProperties>
</file>