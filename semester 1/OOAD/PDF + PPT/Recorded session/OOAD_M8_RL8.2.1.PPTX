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8"/>
  </p:notesMasterIdLst>
  <p:sldIdLst>
    <p:sldId id="490" r:id="rId2"/>
    <p:sldId id="491" r:id="rId3"/>
    <p:sldId id="498" r:id="rId4"/>
    <p:sldId id="499" r:id="rId5"/>
    <p:sldId id="500" r:id="rId6"/>
    <p:sldId id="509" r:id="rId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clrMru>
    <a:srgbClr val="FF99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60"/>
  </p:normalViewPr>
  <p:slideViewPr>
    <p:cSldViewPr>
      <p:cViewPr>
        <p:scale>
          <a:sx n="76" d="100"/>
          <a:sy n="76" d="100"/>
        </p:scale>
        <p:origin x="-1565" y="-168"/>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D0C12C6E-9196-4BCE-B794-8D13639325CF}" type="datetimeFigureOut">
              <a:rPr lang="en-US" smtClean="0"/>
              <a:pPr/>
              <a:t>2/26/2015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A420006-6BEC-4864-89E4-7EC98E5DF1DE}" type="slidenum">
              <a:rPr lang="en-US" smtClean="0"/>
              <a:pPr/>
              <a:t>‹#›</a:t>
            </a:fld>
            <a:endParaRPr lang="en-US"/>
          </a:p>
        </p:txBody>
      </p:sp>
    </p:spTree>
    <p:extLst>
      <p:ext uri="{BB962C8B-B14F-4D97-AF65-F5344CB8AC3E}">
        <p14:creationId xmlns:p14="http://schemas.microsoft.com/office/powerpoint/2010/main" xmlns="" val="290182198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76B7746-5A8B-4B89-91AC-0A8C00BDE328}" type="datetimeFigureOut">
              <a:rPr lang="en-US" smtClean="0"/>
              <a:pPr/>
              <a:t>2/26/2015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r>
              <a:rPr lang="en-US" dirty="0" smtClean="0"/>
              <a:t>1/5/2012</a:t>
            </a:r>
            <a:endParaRPr lang="en-US" dirty="0"/>
          </a:p>
        </p:txBody>
      </p:sp>
      <p:sp>
        <p:nvSpPr>
          <p:cNvPr id="5" name="Footer Placeholder 4"/>
          <p:cNvSpPr>
            <a:spLocks noGrp="1"/>
          </p:cNvSpPr>
          <p:nvPr>
            <p:ph type="ftr" sz="quarter" idx="11"/>
          </p:nvPr>
        </p:nvSpPr>
        <p:spPr/>
        <p:txBody>
          <a:bodyPr/>
          <a:lstStyle/>
          <a:p>
            <a:r>
              <a:rPr lang="en-US" dirty="0" smtClean="0"/>
              <a:t>EA ZC451</a:t>
            </a:r>
            <a:endParaRPr lang="en-US" dirty="0"/>
          </a:p>
        </p:txBody>
      </p:sp>
      <p:sp>
        <p:nvSpPr>
          <p:cNvPr id="6" name="Slide Number Placeholder 5"/>
          <p:cNvSpPr>
            <a:spLocks noGrp="1"/>
          </p:cNvSpPr>
          <p:nvPr>
            <p:ph type="sldNum" sz="quarter" idx="12"/>
          </p:nvPr>
        </p:nvSpPr>
        <p:spPr/>
        <p:txBody>
          <a:bodyPr/>
          <a:lstStyle/>
          <a:p>
            <a:fld id="{33F2A5E8-19C0-4E2C-B466-4170E3903796}" type="slidenum">
              <a:rPr lang="en-US" smtClean="0"/>
              <a:pPr/>
              <a:t>‹#›</a:t>
            </a:fld>
            <a:endParaRPr lang="en-US"/>
          </a:p>
        </p:txBody>
      </p:sp>
      <p:sp>
        <p:nvSpPr>
          <p:cNvPr id="17" name="TextBox 16"/>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pic>
        <p:nvPicPr>
          <p:cNvPr id="18" name="Picture 17"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19" name="Group 18"/>
          <p:cNvGrpSpPr/>
          <p:nvPr userDrawn="1"/>
        </p:nvGrpSpPr>
        <p:grpSpPr>
          <a:xfrm>
            <a:off x="2133600" y="6553200"/>
            <a:ext cx="7010400" cy="45719"/>
            <a:chOff x="1905000" y="6553200"/>
            <a:chExt cx="7010400" cy="45719"/>
          </a:xfrm>
        </p:grpSpPr>
        <p:sp>
          <p:nvSpPr>
            <p:cNvPr id="20" name="Rectangle 19"/>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1" name="Rectangle 20"/>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2" name="Rectangle 21"/>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23" name="Group 22"/>
          <p:cNvGrpSpPr/>
          <p:nvPr userDrawn="1"/>
        </p:nvGrpSpPr>
        <p:grpSpPr>
          <a:xfrm>
            <a:off x="0" y="1295400"/>
            <a:ext cx="7010400" cy="45719"/>
            <a:chOff x="1905000" y="6553200"/>
            <a:chExt cx="7010400" cy="45719"/>
          </a:xfrm>
        </p:grpSpPr>
        <p:sp>
          <p:nvSpPr>
            <p:cNvPr id="24" name="Rectangle 23"/>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5" name="Rectangle 24"/>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6" name="Rectangle 25"/>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76B7746-5A8B-4B89-91AC-0A8C00BDE328}" type="datetimeFigureOut">
              <a:rPr lang="en-US" smtClean="0"/>
              <a:pPr/>
              <a:t>2/26/2015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76B7746-5A8B-4B89-91AC-0A8C00BDE328}" type="datetimeFigureOut">
              <a:rPr lang="en-US" smtClean="0"/>
              <a:pPr/>
              <a:t>2/26/2015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76B7746-5A8B-4B89-91AC-0A8C00BDE328}" type="datetimeFigureOut">
              <a:rPr lang="en-US" smtClean="0"/>
              <a:pPr/>
              <a:t>2/26/2015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76B7746-5A8B-4B89-91AC-0A8C00BDE328}" type="datetimeFigureOut">
              <a:rPr lang="en-US" smtClean="0"/>
              <a:pPr/>
              <a:t>2/26/2015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F2A5E8-19C0-4E2C-B466-4170E3903796}" type="slidenum">
              <a:rPr lang="en-US" smtClean="0"/>
              <a:pPr/>
              <a:t>‹#›</a:t>
            </a:fld>
            <a:endParaRPr lang="en-US"/>
          </a:p>
        </p:txBody>
      </p:sp>
      <p:sp>
        <p:nvSpPr>
          <p:cNvPr id="6" name="TextBox 5"/>
          <p:cNvSpPr txBox="1"/>
          <p:nvPr userDrawn="1"/>
        </p:nvSpPr>
        <p:spPr>
          <a:xfrm>
            <a:off x="3276600" y="6596390"/>
            <a:ext cx="5867400" cy="261610"/>
          </a:xfrm>
          <a:prstGeom prst="rect">
            <a:avLst/>
          </a:prstGeom>
          <a:noFill/>
        </p:spPr>
        <p:txBody>
          <a:bodyPr wrap="square" rtlCol="0">
            <a:spAutoFit/>
          </a:bodyPr>
          <a:lstStyle/>
          <a:p>
            <a:pPr algn="r"/>
            <a:r>
              <a:rPr lang="en-US" sz="1100" b="1" dirty="0" smtClean="0">
                <a:solidFill>
                  <a:srgbClr val="101141"/>
                </a:solidFill>
                <a:latin typeface="Arial"/>
                <a:cs typeface="Arial"/>
              </a:rPr>
              <a:t>BITS </a:t>
            </a:r>
            <a:r>
              <a:rPr lang="en-US" sz="1100" dirty="0" smtClean="0">
                <a:solidFill>
                  <a:srgbClr val="101141"/>
                </a:solidFill>
                <a:latin typeface="Arial"/>
                <a:cs typeface="Arial"/>
              </a:rPr>
              <a:t>Pilani, Deemed</a:t>
            </a:r>
            <a:r>
              <a:rPr lang="en-US" sz="1100" baseline="0" dirty="0" smtClean="0">
                <a:solidFill>
                  <a:srgbClr val="101141"/>
                </a:solidFill>
                <a:latin typeface="Arial"/>
                <a:cs typeface="Arial"/>
              </a:rPr>
              <a:t> to be University under Section 3 of UGC Act, 1956</a:t>
            </a:r>
            <a:endParaRPr lang="en-US" sz="1100" dirty="0">
              <a:solidFill>
                <a:srgbClr val="101141"/>
              </a:solidFill>
              <a:latin typeface="Arial"/>
              <a:cs typeface="Arial"/>
            </a:endParaRPr>
          </a:p>
        </p:txBody>
      </p:sp>
      <p:pic>
        <p:nvPicPr>
          <p:cNvPr id="7" name="Picture 6" descr="Picture 7.png"/>
          <p:cNvPicPr>
            <a:picLocks noChangeAspect="1"/>
          </p:cNvPicPr>
          <p:nvPr userDrawn="1"/>
        </p:nvPicPr>
        <p:blipFill>
          <a:blip r:embed="rId2" cstate="print"/>
          <a:srcRect l="1923" b="5336"/>
          <a:stretch>
            <a:fillRect/>
          </a:stretch>
        </p:blipFill>
        <p:spPr>
          <a:xfrm>
            <a:off x="6629400" y="-1"/>
            <a:ext cx="2193193" cy="692697"/>
          </a:xfrm>
          <a:prstGeom prst="rect">
            <a:avLst/>
          </a:prstGeom>
        </p:spPr>
      </p:pic>
      <p:grpSp>
        <p:nvGrpSpPr>
          <p:cNvPr id="8" name="Group 7"/>
          <p:cNvGrpSpPr/>
          <p:nvPr userDrawn="1"/>
        </p:nvGrpSpPr>
        <p:grpSpPr>
          <a:xfrm>
            <a:off x="2133600" y="6553200"/>
            <a:ext cx="7010400" cy="45719"/>
            <a:chOff x="1905000" y="6553200"/>
            <a:chExt cx="7010400" cy="45719"/>
          </a:xfrm>
        </p:grpSpPr>
        <p:sp>
          <p:nvSpPr>
            <p:cNvPr id="9" name="Rectangle 8"/>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0" name="Rectangle 9"/>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1" name="Rectangle 10"/>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grpSp>
        <p:nvGrpSpPr>
          <p:cNvPr id="12" name="Group 11"/>
          <p:cNvGrpSpPr/>
          <p:nvPr userDrawn="1"/>
        </p:nvGrpSpPr>
        <p:grpSpPr>
          <a:xfrm>
            <a:off x="0" y="1295400"/>
            <a:ext cx="7010400" cy="45719"/>
            <a:chOff x="1905000" y="6553200"/>
            <a:chExt cx="7010400" cy="45719"/>
          </a:xfrm>
        </p:grpSpPr>
        <p:sp>
          <p:nvSpPr>
            <p:cNvPr id="13" name="Rectangle 12"/>
            <p:cNvSpPr/>
            <p:nvPr/>
          </p:nvSpPr>
          <p:spPr>
            <a:xfrm>
              <a:off x="4267200" y="6553200"/>
              <a:ext cx="2328591" cy="45719"/>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Rectangle 13"/>
            <p:cNvSpPr/>
            <p:nvPr/>
          </p:nvSpPr>
          <p:spPr>
            <a:xfrm>
              <a:off x="1905000" y="6553200"/>
              <a:ext cx="2362200" cy="45719"/>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Rectangle 14"/>
            <p:cNvSpPr/>
            <p:nvPr userDrawn="1"/>
          </p:nvSpPr>
          <p:spPr>
            <a:xfrm>
              <a:off x="6586809" y="6553200"/>
              <a:ext cx="2328591" cy="45719"/>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76B7746-5A8B-4B89-91AC-0A8C00BDE328}" type="datetimeFigureOut">
              <a:rPr lang="en-US" smtClean="0"/>
              <a:pPr/>
              <a:t>2/26/2015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6B7746-5A8B-4B89-91AC-0A8C00BDE328}" type="datetimeFigureOut">
              <a:rPr lang="en-US" smtClean="0"/>
              <a:pPr/>
              <a:t>2/26/2015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76B7746-5A8B-4B89-91AC-0A8C00BDE328}" type="datetimeFigureOut">
              <a:rPr lang="en-US" smtClean="0"/>
              <a:pPr/>
              <a:t>2/26/2015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6B7746-5A8B-4B89-91AC-0A8C00BDE328}" type="datetimeFigureOut">
              <a:rPr lang="en-US" smtClean="0"/>
              <a:pPr/>
              <a:t>2/26/2015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76B7746-5A8B-4B89-91AC-0A8C00BDE328}" type="datetimeFigureOut">
              <a:rPr lang="en-US" smtClean="0"/>
              <a:pPr/>
              <a:t>2/26/2015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F2A5E8-19C0-4E2C-B466-4170E3903796}"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Custom Layout">
    <p:bg>
      <p:bgPr>
        <a:blipFill rotWithShape="1">
          <a:blip r:embed="rId2" cstate="print"/>
          <a:stretch>
            <a:fillRect/>
          </a:stretch>
        </a:blipFill>
        <a:effectLst/>
      </p:bgPr>
    </p:bg>
    <p:spTree>
      <p:nvGrpSpPr>
        <p:cNvPr id="1" name=""/>
        <p:cNvGrpSpPr/>
        <p:nvPr/>
      </p:nvGrpSpPr>
      <p:grpSpPr>
        <a:xfrm>
          <a:off x="0" y="0"/>
          <a:ext cx="0" cy="0"/>
          <a:chOff x="0" y="0"/>
          <a:chExt cx="0" cy="0"/>
        </a:xfrm>
      </p:grpSpPr>
      <p:sp>
        <p:nvSpPr>
          <p:cNvPr id="4" name="Rectangle 3"/>
          <p:cNvSpPr/>
          <p:nvPr userDrawn="1"/>
        </p:nvSpPr>
        <p:spPr>
          <a:xfrm>
            <a:off x="0" y="3352800"/>
            <a:ext cx="8686800" cy="2743200"/>
          </a:xfrm>
          <a:prstGeom prst="rect">
            <a:avLst/>
          </a:prstGeom>
          <a:solidFill>
            <a:srgbClr val="1011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dirty="0">
              <a:latin typeface="Arial" pitchFamily="34" charset="0"/>
              <a:cs typeface="Arial" pitchFamily="34" charset="0"/>
            </a:endParaRPr>
          </a:p>
        </p:txBody>
      </p:sp>
      <p:sp>
        <p:nvSpPr>
          <p:cNvPr id="5" name="Rectangle 4"/>
          <p:cNvSpPr/>
          <p:nvPr userDrawn="1"/>
        </p:nvSpPr>
        <p:spPr>
          <a:xfrm>
            <a:off x="2895600" y="609600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6" name="Rectangle 5"/>
          <p:cNvSpPr/>
          <p:nvPr userDrawn="1"/>
        </p:nvSpPr>
        <p:spPr>
          <a:xfrm>
            <a:off x="0" y="609600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Rectangle 7"/>
          <p:cNvSpPr/>
          <p:nvPr userDrawn="1"/>
        </p:nvSpPr>
        <p:spPr>
          <a:xfrm>
            <a:off x="5791200" y="609600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9" name="Picture 8" descr="BITS_university_logo_whitevert.png"/>
          <p:cNvPicPr>
            <a:picLocks noChangeAspect="1"/>
          </p:cNvPicPr>
          <p:nvPr userDrawn="1"/>
        </p:nvPicPr>
        <p:blipFill rotWithShape="1">
          <a:blip r:embed="rId3" cstate="print">
            <a:extLst>
              <a:ext uri="{28A0092B-C50C-407E-A947-70E740481C1C}">
                <a14:useLocalDpi xmlns:a14="http://schemas.microsoft.com/office/drawing/2010/main" xmlns="" val="0"/>
              </a:ext>
            </a:extLst>
          </a:blip>
          <a:srcRect t="2" b="28592"/>
          <a:stretch/>
        </p:blipFill>
        <p:spPr>
          <a:xfrm>
            <a:off x="76200" y="3352800"/>
            <a:ext cx="2057400" cy="1980000"/>
          </a:xfrm>
          <a:prstGeom prst="rect">
            <a:avLst/>
          </a:prstGeom>
        </p:spPr>
      </p:pic>
      <p:grpSp>
        <p:nvGrpSpPr>
          <p:cNvPr id="3" name="Group 9"/>
          <p:cNvGrpSpPr/>
          <p:nvPr userDrawn="1"/>
        </p:nvGrpSpPr>
        <p:grpSpPr>
          <a:xfrm>
            <a:off x="-76200" y="5257800"/>
            <a:ext cx="2209800" cy="685800"/>
            <a:chOff x="76200" y="2209800"/>
            <a:chExt cx="2209800" cy="685800"/>
          </a:xfrm>
        </p:grpSpPr>
        <p:sp>
          <p:nvSpPr>
            <p:cNvPr id="11" name="TextBox 10"/>
            <p:cNvSpPr txBox="1"/>
            <p:nvPr userDrawn="1"/>
          </p:nvSpPr>
          <p:spPr>
            <a:xfrm>
              <a:off x="76200" y="2209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2" name="TextBox 11"/>
            <p:cNvSpPr txBox="1"/>
            <p:nvPr userDrawn="1"/>
          </p:nvSpPr>
          <p:spPr>
            <a:xfrm>
              <a:off x="228600" y="2664768"/>
              <a:ext cx="1905000" cy="230832"/>
            </a:xfrm>
            <a:prstGeom prst="rect">
              <a:avLst/>
            </a:prstGeom>
            <a:noFill/>
          </p:spPr>
          <p:txBody>
            <a:bodyPr wrap="square" rtlCol="0">
              <a:spAutoFit/>
            </a:bodyPr>
            <a:lstStyle/>
            <a:p>
              <a:pPr algn="ctr"/>
              <a:r>
                <a:rPr lang="en-US" sz="900" spc="-150" dirty="0" smtClean="0">
                  <a:solidFill>
                    <a:srgbClr val="FFFFFF"/>
                  </a:solidFill>
                  <a:latin typeface="Arial"/>
                  <a:cs typeface="Arial"/>
                </a:rPr>
                <a:t>Pilani | Dubai</a:t>
              </a:r>
              <a:r>
                <a:rPr lang="en-US" sz="900" spc="-150" baseline="0" dirty="0" smtClean="0">
                  <a:solidFill>
                    <a:srgbClr val="FFFFFF"/>
                  </a:solidFill>
                  <a:latin typeface="Arial"/>
                  <a:cs typeface="Arial"/>
                </a:rPr>
                <a:t> | Goa | Hyderabad</a:t>
              </a:r>
              <a:endParaRPr lang="en-US" sz="900" spc="-150" dirty="0">
                <a:solidFill>
                  <a:srgbClr val="FFFFFF"/>
                </a:solidFill>
                <a:latin typeface="Arial"/>
                <a:cs typeface="Arial"/>
              </a:endParaRPr>
            </a:p>
          </p:txBody>
        </p:sp>
      </p:grpSp>
      <p:sp>
        <p:nvSpPr>
          <p:cNvPr id="7" name="Content Placeholder 6"/>
          <p:cNvSpPr>
            <a:spLocks noGrp="1"/>
          </p:cNvSpPr>
          <p:nvPr>
            <p:ph sz="quarter" idx="13" hasCustomPrompt="1"/>
          </p:nvPr>
        </p:nvSpPr>
        <p:spPr>
          <a:xfrm>
            <a:off x="2514600" y="5410200"/>
            <a:ext cx="6019800" cy="533400"/>
          </a:xfrm>
        </p:spPr>
        <p:txBody>
          <a:bodyPr anchor="b" anchorCtr="0">
            <a:noAutofit/>
          </a:bodyPr>
          <a:lstStyle>
            <a:lvl1pPr marL="0" indent="0" algn="r">
              <a:lnSpc>
                <a:spcPts val="1800"/>
              </a:lnSpc>
              <a:spcBef>
                <a:spcPts val="0"/>
              </a:spcBef>
              <a:buNone/>
              <a:defRPr sz="1800" baseline="0">
                <a:solidFill>
                  <a:schemeClr val="bg1"/>
                </a:solidFill>
              </a:defRPr>
            </a:lvl1pPr>
          </a:lstStyle>
          <a:p>
            <a:pPr lvl="0"/>
            <a:r>
              <a:rPr lang="en-GB" dirty="0" smtClean="0"/>
              <a:t>Presenter details comes here</a:t>
            </a:r>
          </a:p>
          <a:p>
            <a:pPr lvl="0"/>
            <a:r>
              <a:rPr lang="en-GB" dirty="0" smtClean="0"/>
              <a:t>Date and other details can come here</a:t>
            </a:r>
          </a:p>
        </p:txBody>
      </p:sp>
      <p:sp>
        <p:nvSpPr>
          <p:cNvPr id="2" name="Title 1"/>
          <p:cNvSpPr>
            <a:spLocks noGrp="1"/>
          </p:cNvSpPr>
          <p:nvPr>
            <p:ph type="title" hasCustomPrompt="1"/>
          </p:nvPr>
        </p:nvSpPr>
        <p:spPr>
          <a:xfrm>
            <a:off x="2514600" y="3810000"/>
            <a:ext cx="6019800" cy="1524000"/>
          </a:xfrm>
        </p:spPr>
        <p:txBody>
          <a:bodyPr anchor="ctr" anchorCtr="0">
            <a:noAutofit/>
          </a:bodyPr>
          <a:lstStyle>
            <a:lvl1pPr algn="l">
              <a:lnSpc>
                <a:spcPts val="4000"/>
              </a:lnSpc>
              <a:defRPr sz="4400" baseline="0">
                <a:solidFill>
                  <a:schemeClr val="bg1"/>
                </a:solidFill>
              </a:defRPr>
            </a:lvl1pPr>
          </a:lstStyle>
          <a:p>
            <a:r>
              <a:rPr lang="en-GB" dirty="0" smtClean="0"/>
              <a:t>Please enter the presentation title here</a:t>
            </a:r>
            <a:endParaRPr lang="en-US" dirty="0"/>
          </a:p>
        </p:txBody>
      </p:sp>
    </p:spTree>
    <p:extLst>
      <p:ext uri="{BB962C8B-B14F-4D97-AF65-F5344CB8AC3E}">
        <p14:creationId xmlns:p14="http://schemas.microsoft.com/office/powerpoint/2010/main" xmlns="" val="11362431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pic>
        <p:nvPicPr>
          <p:cNvPr id="7" name="Picture 2" descr="\\Server\D\jyoti\FI023_BITS_v1\styleguide img\IMG_5627_b.jpg"/>
          <p:cNvPicPr>
            <a:picLocks noChangeAspect="1" noChangeArrowheads="1"/>
          </p:cNvPicPr>
          <p:nvPr userDrawn="1"/>
        </p:nvPicPr>
        <p:blipFill>
          <a:blip r:embed="rId2" cstate="print"/>
          <a:srcRect/>
          <a:stretch>
            <a:fillRect/>
          </a:stretch>
        </p:blipFill>
        <p:spPr bwMode="auto">
          <a:xfrm>
            <a:off x="0" y="0"/>
            <a:ext cx="9144000" cy="6858000"/>
          </a:xfrm>
          <a:prstGeom prst="rect">
            <a:avLst/>
          </a:prstGeom>
          <a:noFill/>
        </p:spPr>
      </p:pic>
      <p:sp>
        <p:nvSpPr>
          <p:cNvPr id="8" name="Rectangle 7"/>
          <p:cNvSpPr/>
          <p:nvPr userDrawn="1"/>
        </p:nvSpPr>
        <p:spPr>
          <a:xfrm>
            <a:off x="0" y="4282182"/>
            <a:ext cx="9144000" cy="257581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pic>
        <p:nvPicPr>
          <p:cNvPr id="15" name="Picture 14" descr="Picture 7.png"/>
          <p:cNvPicPr>
            <a:picLocks noChangeAspect="1"/>
          </p:cNvPicPr>
          <p:nvPr userDrawn="1"/>
        </p:nvPicPr>
        <p:blipFill>
          <a:blip r:embed="rId3" cstate="print"/>
          <a:srcRect l="1923" b="5336"/>
          <a:stretch>
            <a:fillRect/>
          </a:stretch>
        </p:blipFill>
        <p:spPr>
          <a:xfrm>
            <a:off x="6629400" y="-1"/>
            <a:ext cx="2193193" cy="692697"/>
          </a:xfrm>
          <a:prstGeom prst="rect">
            <a:avLst/>
          </a:prstGeom>
        </p:spPr>
      </p:pic>
      <p:sp>
        <p:nvSpPr>
          <p:cNvPr id="17" name="Content Placeholder 16"/>
          <p:cNvSpPr>
            <a:spLocks noGrp="1"/>
          </p:cNvSpPr>
          <p:nvPr>
            <p:ph sz="quarter" idx="10" hasCustomPrompt="1"/>
          </p:nvPr>
        </p:nvSpPr>
        <p:spPr>
          <a:xfrm>
            <a:off x="304800" y="4648200"/>
            <a:ext cx="8458200" cy="1600200"/>
          </a:xfrm>
        </p:spPr>
        <p:txBody>
          <a:bodyPr>
            <a:noAutofit/>
          </a:bodyPr>
          <a:lstStyle>
            <a:lvl1pPr marL="0" indent="0">
              <a:lnSpc>
                <a:spcPts val="4200"/>
              </a:lnSpc>
              <a:spcBef>
                <a:spcPts val="0"/>
              </a:spcBef>
              <a:buNone/>
              <a:defRPr sz="4000" b="1" spc="-150" baseline="0">
                <a:latin typeface="Arial" pitchFamily="34" charset="0"/>
                <a:cs typeface="Arial" pitchFamily="34" charset="0"/>
              </a:defRPr>
            </a:lvl1pPr>
          </a:lstStyle>
          <a:p>
            <a:pPr lvl="0"/>
            <a:r>
              <a:rPr lang="en-US" dirty="0" smtClean="0"/>
              <a:t>Topic headings here </a:t>
            </a:r>
          </a:p>
          <a:p>
            <a:pPr lvl="0"/>
            <a:r>
              <a:rPr lang="en-US" dirty="0" smtClean="0"/>
              <a:t>(separator - can run in two lines)</a:t>
            </a:r>
            <a:endParaRPr lang="en-US" dirty="0"/>
          </a:p>
        </p:txBody>
      </p:sp>
      <p:sp>
        <p:nvSpPr>
          <p:cNvPr id="11" name="Rectangle 10"/>
          <p:cNvSpPr/>
          <p:nvPr userDrawn="1"/>
        </p:nvSpPr>
        <p:spPr>
          <a:xfrm>
            <a:off x="2882900" y="6775450"/>
            <a:ext cx="2895600" cy="76200"/>
          </a:xfrm>
          <a:prstGeom prst="rect">
            <a:avLst/>
          </a:prstGeom>
          <a:solidFill>
            <a:srgbClr val="76C2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6" name="Rectangle 15"/>
          <p:cNvSpPr/>
          <p:nvPr userDrawn="1"/>
        </p:nvSpPr>
        <p:spPr>
          <a:xfrm>
            <a:off x="-12700" y="6775450"/>
            <a:ext cx="2895600" cy="76200"/>
          </a:xfrm>
          <a:prstGeom prst="rect">
            <a:avLst/>
          </a:prstGeom>
          <a:solidFill>
            <a:srgbClr val="FCB0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8" name="Rectangle 17"/>
          <p:cNvSpPr/>
          <p:nvPr userDrawn="1"/>
        </p:nvSpPr>
        <p:spPr>
          <a:xfrm>
            <a:off x="5778500" y="6775450"/>
            <a:ext cx="2895600" cy="76200"/>
          </a:xfrm>
          <a:prstGeom prst="rect">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 name="Group 11"/>
          <p:cNvGrpSpPr/>
          <p:nvPr userDrawn="1"/>
        </p:nvGrpSpPr>
        <p:grpSpPr>
          <a:xfrm>
            <a:off x="6858000" y="762000"/>
            <a:ext cx="2209800" cy="685800"/>
            <a:chOff x="76200" y="2209800"/>
            <a:chExt cx="2209800" cy="685800"/>
          </a:xfrm>
        </p:grpSpPr>
        <p:sp>
          <p:nvSpPr>
            <p:cNvPr id="13" name="TextBox 12"/>
            <p:cNvSpPr txBox="1"/>
            <p:nvPr userDrawn="1"/>
          </p:nvSpPr>
          <p:spPr>
            <a:xfrm>
              <a:off x="76200" y="2209800"/>
              <a:ext cx="2209800" cy="553998"/>
            </a:xfrm>
            <a:prstGeom prst="rect">
              <a:avLst/>
            </a:prstGeom>
            <a:noFill/>
          </p:spPr>
          <p:txBody>
            <a:bodyPr wrap="square" rtlCol="0">
              <a:spAutoFit/>
            </a:bodyPr>
            <a:lstStyle/>
            <a:p>
              <a:pPr algn="ctr"/>
              <a:r>
                <a:rPr lang="en-US" sz="2900" b="1" spc="-150" dirty="0" smtClean="0">
                  <a:solidFill>
                    <a:schemeClr val="bg1"/>
                  </a:solidFill>
                  <a:latin typeface="Arial"/>
                  <a:cs typeface="Arial"/>
                </a:rPr>
                <a:t>BITS</a:t>
              </a:r>
              <a:r>
                <a:rPr lang="en-US" sz="2900" spc="-150" dirty="0" smtClean="0">
                  <a:solidFill>
                    <a:schemeClr val="bg1"/>
                  </a:solidFill>
                  <a:latin typeface="Arial"/>
                  <a:cs typeface="Arial"/>
                </a:rPr>
                <a:t> Pilani</a:t>
              </a:r>
              <a:endParaRPr lang="en-US" sz="2900" spc="-150" dirty="0">
                <a:solidFill>
                  <a:schemeClr val="bg1"/>
                </a:solidFill>
                <a:latin typeface="Arial"/>
                <a:cs typeface="Arial"/>
              </a:endParaRPr>
            </a:p>
          </p:txBody>
        </p:sp>
        <p:sp>
          <p:nvSpPr>
            <p:cNvPr id="14" name="TextBox 13"/>
            <p:cNvSpPr txBox="1"/>
            <p:nvPr userDrawn="1"/>
          </p:nvSpPr>
          <p:spPr>
            <a:xfrm>
              <a:off x="228600" y="2664768"/>
              <a:ext cx="1905000" cy="230832"/>
            </a:xfrm>
            <a:prstGeom prst="rect">
              <a:avLst/>
            </a:prstGeom>
            <a:noFill/>
          </p:spPr>
          <p:txBody>
            <a:bodyPr wrap="square" rtlCol="0">
              <a:spAutoFit/>
            </a:bodyPr>
            <a:lstStyle/>
            <a:p>
              <a:pPr algn="ctr"/>
              <a:r>
                <a:rPr lang="en-US" sz="900" spc="-150" dirty="0" smtClean="0">
                  <a:solidFill>
                    <a:srgbClr val="FFFFFF"/>
                  </a:solidFill>
                  <a:latin typeface="Arial"/>
                  <a:cs typeface="Arial"/>
                </a:rPr>
                <a:t>Pilani | Dubai</a:t>
              </a:r>
              <a:r>
                <a:rPr lang="en-US" sz="900" spc="-150" baseline="0" dirty="0" smtClean="0">
                  <a:solidFill>
                    <a:srgbClr val="FFFFFF"/>
                  </a:solidFill>
                  <a:latin typeface="Arial"/>
                  <a:cs typeface="Arial"/>
                </a:rPr>
                <a:t> | Goa | Hyderabad</a:t>
              </a:r>
              <a:endParaRPr lang="en-US" sz="900" spc="-150" dirty="0">
                <a:solidFill>
                  <a:srgbClr val="FFFFFF"/>
                </a:solidFill>
                <a:latin typeface="Arial"/>
                <a:cs typeface="Arial"/>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6B7746-5A8B-4B89-91AC-0A8C00BDE328}" type="datetimeFigureOut">
              <a:rPr lang="en-US" smtClean="0"/>
              <a:pPr/>
              <a:t>2/26/2015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3F2A5E8-19C0-4E2C-B466-4170E3903796}"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xfrm>
            <a:off x="1828800" y="3352800"/>
            <a:ext cx="6781800" cy="1600200"/>
          </a:xfrm>
        </p:spPr>
        <p:txBody>
          <a:bodyPr/>
          <a:lstStyle/>
          <a:p>
            <a:pPr algn="ctr"/>
            <a:r>
              <a:rPr lang="en-US" sz="3200" dirty="0" smtClean="0"/>
              <a:t>Object Oriented Analysis &amp; Design</a:t>
            </a:r>
            <a:br>
              <a:rPr lang="en-US" sz="3200" dirty="0" smtClean="0"/>
            </a:br>
            <a:r>
              <a:rPr lang="en-US" sz="3200" dirty="0" smtClean="0"/>
              <a:t>Module-8 (RL 8.2.1)</a:t>
            </a:r>
            <a:endParaRPr lang="en-US" sz="3200" dirty="0"/>
          </a:p>
        </p:txBody>
      </p:sp>
      <p:sp>
        <p:nvSpPr>
          <p:cNvPr id="6" name="Content Placeholder 5"/>
          <p:cNvSpPr>
            <a:spLocks noGrp="1"/>
          </p:cNvSpPr>
          <p:nvPr>
            <p:ph sz="quarter" idx="13"/>
          </p:nvPr>
        </p:nvSpPr>
        <p:spPr>
          <a:xfrm>
            <a:off x="2514600" y="5029200"/>
            <a:ext cx="6019800" cy="1066800"/>
          </a:xfrm>
        </p:spPr>
        <p:txBody>
          <a:bodyPr/>
          <a:lstStyle/>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endParaRPr lang="en-US" dirty="0" smtClean="0"/>
          </a:p>
          <a:p>
            <a:r>
              <a:rPr lang="en-US" dirty="0" err="1" smtClean="0">
                <a:solidFill>
                  <a:srgbClr val="FFC000"/>
                </a:solidFill>
              </a:rPr>
              <a:t>Harvinder</a:t>
            </a:r>
            <a:r>
              <a:rPr lang="en-US" dirty="0" smtClean="0">
                <a:solidFill>
                  <a:srgbClr val="FFC000"/>
                </a:solidFill>
              </a:rPr>
              <a:t> S </a:t>
            </a:r>
            <a:r>
              <a:rPr lang="en-US" dirty="0" err="1" smtClean="0">
                <a:solidFill>
                  <a:srgbClr val="FFC000"/>
                </a:solidFill>
              </a:rPr>
              <a:t>Jabbal</a:t>
            </a:r>
            <a:endParaRPr lang="en-US" dirty="0" smtClean="0">
              <a:solidFill>
                <a:srgbClr val="FFC000"/>
              </a:solidFill>
            </a:endParaRPr>
          </a:p>
          <a:p>
            <a:endParaRPr lang="en-US" dirty="0" smtClean="0">
              <a:solidFill>
                <a:srgbClr val="FFC000"/>
              </a:solidFill>
            </a:endParaRPr>
          </a:p>
          <a:p>
            <a:endParaRPr lang="en-US" dirty="0" smtClean="0">
              <a:solidFill>
                <a:srgbClr val="FFC000"/>
              </a:solidFill>
            </a:endParaRPr>
          </a:p>
          <a:p>
            <a:endParaRPr lang="en-US" dirty="0" smtClean="0">
              <a:solidFill>
                <a:srgbClr val="FFC000"/>
              </a:solidFill>
            </a:endParaRPr>
          </a:p>
        </p:txBody>
      </p:sp>
    </p:spTree>
    <p:extLst>
      <p:ext uri="{BB962C8B-B14F-4D97-AF65-F5344CB8AC3E}">
        <p14:creationId xmlns:p14="http://schemas.microsoft.com/office/powerpoint/2010/main" xmlns="" val="43661480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sz="quarter" idx="10"/>
          </p:nvPr>
        </p:nvSpPr>
        <p:spPr>
          <a:xfrm>
            <a:off x="76200" y="5029200"/>
            <a:ext cx="8763000" cy="1676400"/>
          </a:xfrm>
        </p:spPr>
        <p:txBody>
          <a:bodyPr/>
          <a:lstStyle/>
          <a:p>
            <a:r>
              <a:rPr lang="en-IN" sz="2800" b="0" smtClean="0"/>
              <a:t>Observer/Delegation Event/Publish Subscribe Pattern – Problem &amp; Solution</a:t>
            </a:r>
            <a:r>
              <a:rPr lang="en-IN" sz="2800" smtClean="0"/>
              <a:t> </a:t>
            </a:r>
            <a:endParaRPr lang="en-US" sz="2800" dirty="0"/>
          </a:p>
        </p:txBody>
      </p:sp>
    </p:spTree>
    <p:extLst>
      <p:ext uri="{BB962C8B-B14F-4D97-AF65-F5344CB8AC3E}">
        <p14:creationId xmlns:p14="http://schemas.microsoft.com/office/powerpoint/2010/main" xmlns="" val="109073560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0690" name="Rectangle 2"/>
          <p:cNvSpPr>
            <a:spLocks noGrp="1" noChangeArrowheads="1"/>
          </p:cNvSpPr>
          <p:nvPr>
            <p:ph type="title"/>
          </p:nvPr>
        </p:nvSpPr>
        <p:spPr/>
        <p:txBody>
          <a:bodyPr/>
          <a:lstStyle/>
          <a:p>
            <a:r>
              <a:rPr lang="en-CA" sz="3200" b="1"/>
              <a:t>Observer/Publish-Subscribe/Delegation Event Model (GoF) pattern.</a:t>
            </a:r>
            <a:endParaRPr lang="en-US" sz="3200"/>
          </a:p>
        </p:txBody>
      </p:sp>
      <p:sp>
        <p:nvSpPr>
          <p:cNvPr id="370691" name="Rectangle 3"/>
          <p:cNvSpPr>
            <a:spLocks noGrp="1" noChangeArrowheads="1"/>
          </p:cNvSpPr>
          <p:nvPr>
            <p:ph type="body" idx="1"/>
          </p:nvPr>
        </p:nvSpPr>
        <p:spPr/>
        <p:txBody>
          <a:bodyPr/>
          <a:lstStyle/>
          <a:p>
            <a:pPr>
              <a:lnSpc>
                <a:spcPct val="90000"/>
              </a:lnSpc>
            </a:pPr>
            <a:r>
              <a:rPr lang="en-CA" sz="2400"/>
              <a:t>Problem: Different kinds of subscriber objects are interested in the state changes or events of a publisher object and want to react in their own unique way when the publisher generates an event. Moreover, the publisher wants to maintain low coupling to the subscribers. What to do? </a:t>
            </a:r>
          </a:p>
          <a:p>
            <a:pPr>
              <a:lnSpc>
                <a:spcPct val="90000"/>
              </a:lnSpc>
            </a:pPr>
            <a:r>
              <a:rPr lang="en-CA" sz="2400"/>
              <a:t>Solution: Define a "subscriber" or "listener" interface.</a:t>
            </a:r>
          </a:p>
          <a:p>
            <a:pPr>
              <a:lnSpc>
                <a:spcPct val="90000"/>
              </a:lnSpc>
            </a:pPr>
            <a:r>
              <a:rPr lang="en-CA" sz="2400"/>
              <a:t>Subscribers implement this interface.</a:t>
            </a:r>
          </a:p>
          <a:p>
            <a:pPr>
              <a:lnSpc>
                <a:spcPct val="90000"/>
              </a:lnSpc>
            </a:pPr>
            <a:r>
              <a:rPr lang="en-CA" sz="2400"/>
              <a:t>The publisher can dynamically register subscribers who are interested in an event and notify them when an event occurs.</a:t>
            </a:r>
          </a:p>
          <a:p>
            <a:pPr>
              <a:lnSpc>
                <a:spcPct val="90000"/>
              </a:lnSpc>
            </a:pPr>
            <a:r>
              <a:rPr lang="en-CA" sz="2400"/>
              <a:t>One publisher can have many subscribers for an event.</a:t>
            </a:r>
            <a:endParaRPr lang="en-US" sz="240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5810" name="Rectangle 2"/>
          <p:cNvSpPr>
            <a:spLocks noGrp="1" noChangeArrowheads="1"/>
          </p:cNvSpPr>
          <p:nvPr>
            <p:ph type="title"/>
          </p:nvPr>
        </p:nvSpPr>
        <p:spPr/>
        <p:txBody>
          <a:bodyPr/>
          <a:lstStyle/>
          <a:p>
            <a:r>
              <a:rPr lang="en-US"/>
              <a:t>Publish-Subscribe</a:t>
            </a:r>
          </a:p>
        </p:txBody>
      </p:sp>
      <p:sp>
        <p:nvSpPr>
          <p:cNvPr id="375811" name="Rectangle 3"/>
          <p:cNvSpPr>
            <a:spLocks noGrp="1" noChangeArrowheads="1"/>
          </p:cNvSpPr>
          <p:nvPr>
            <p:ph type="body" idx="1"/>
          </p:nvPr>
        </p:nvSpPr>
        <p:spPr/>
        <p:txBody>
          <a:bodyPr/>
          <a:lstStyle/>
          <a:p>
            <a:pPr>
              <a:lnSpc>
                <a:spcPct val="80000"/>
              </a:lnSpc>
            </a:pPr>
            <a:endParaRPr lang="en-US" sz="2800"/>
          </a:p>
          <a:p>
            <a:pPr>
              <a:lnSpc>
                <a:spcPct val="80000"/>
              </a:lnSpc>
            </a:pPr>
            <a:r>
              <a:rPr lang="en-US" sz="2800"/>
              <a:t>When different objects may be interested in</a:t>
            </a:r>
          </a:p>
          <a:p>
            <a:pPr>
              <a:lnSpc>
                <a:spcPct val="80000"/>
              </a:lnSpc>
              <a:buFontTx/>
              <a:buNone/>
            </a:pPr>
            <a:r>
              <a:rPr lang="en-US" sz="2800"/>
              <a:t>	the events of changes in an object, which</a:t>
            </a:r>
          </a:p>
          <a:p>
            <a:pPr>
              <a:lnSpc>
                <a:spcPct val="80000"/>
              </a:lnSpc>
              <a:buFontTx/>
              <a:buNone/>
            </a:pPr>
            <a:r>
              <a:rPr lang="en-US" sz="2800"/>
              <a:t>	does not want to couple too tightly with</a:t>
            </a:r>
          </a:p>
          <a:p>
            <a:pPr>
              <a:lnSpc>
                <a:spcPct val="80000"/>
              </a:lnSpc>
              <a:buFontTx/>
              <a:buNone/>
            </a:pPr>
            <a:r>
              <a:rPr lang="en-US" sz="2800"/>
              <a:t>	them.</a:t>
            </a:r>
          </a:p>
          <a:p>
            <a:pPr>
              <a:lnSpc>
                <a:spcPct val="80000"/>
              </a:lnSpc>
            </a:pPr>
            <a:r>
              <a:rPr lang="en-US" sz="2800"/>
              <a:t>Act as the publisher and allow other objects</a:t>
            </a:r>
          </a:p>
          <a:p>
            <a:pPr>
              <a:lnSpc>
                <a:spcPct val="80000"/>
              </a:lnSpc>
              <a:buFontTx/>
              <a:buNone/>
            </a:pPr>
            <a:r>
              <a:rPr lang="en-US" sz="2800"/>
              <a:t>	to subscribe to events, and notify them if</a:t>
            </a:r>
          </a:p>
          <a:p>
            <a:pPr>
              <a:lnSpc>
                <a:spcPct val="80000"/>
              </a:lnSpc>
              <a:buFontTx/>
              <a:buNone/>
            </a:pPr>
            <a:r>
              <a:rPr lang="en-US" sz="2800"/>
              <a:t>	there is a subscription.</a:t>
            </a:r>
          </a:p>
          <a:p>
            <a:pPr>
              <a:lnSpc>
                <a:spcPct val="80000"/>
              </a:lnSpc>
            </a:pPr>
            <a:r>
              <a:rPr lang="en-US" sz="2800"/>
              <a:t>Also called: the Delegation Event Model, or</a:t>
            </a:r>
          </a:p>
          <a:p>
            <a:pPr>
              <a:lnSpc>
                <a:spcPct val="80000"/>
              </a:lnSpc>
              <a:buFontTx/>
              <a:buNone/>
            </a:pPr>
            <a:r>
              <a:rPr lang="en-US" sz="2800"/>
              <a:t>	the Observer Model.</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5407" name="Rectangle 15"/>
          <p:cNvSpPr>
            <a:spLocks noChangeArrowheads="1"/>
          </p:cNvSpPr>
          <p:nvPr/>
        </p:nvSpPr>
        <p:spPr bwMode="auto">
          <a:xfrm>
            <a:off x="990600" y="4648200"/>
            <a:ext cx="3352800" cy="2133600"/>
          </a:xfrm>
          <a:prstGeom prst="rect">
            <a:avLst/>
          </a:prstGeom>
          <a:solidFill>
            <a:schemeClr val="accent1"/>
          </a:solidFill>
          <a:ln w="9525">
            <a:solidFill>
              <a:schemeClr val="tx1"/>
            </a:solidFill>
            <a:miter lim="800000"/>
            <a:headEnd/>
            <a:tailEnd/>
          </a:ln>
          <a:effectLst/>
        </p:spPr>
        <p:txBody>
          <a:bodyPr wrap="none" anchor="ctr"/>
          <a:lstStyle/>
          <a:p>
            <a:endParaRPr lang="en-IN"/>
          </a:p>
        </p:txBody>
      </p:sp>
      <p:sp>
        <p:nvSpPr>
          <p:cNvPr id="315396" name="Rectangle 4"/>
          <p:cNvSpPr>
            <a:spLocks noGrp="1" noChangeArrowheads="1"/>
          </p:cNvSpPr>
          <p:nvPr>
            <p:ph type="title"/>
          </p:nvPr>
        </p:nvSpPr>
        <p:spPr>
          <a:noFill/>
          <a:ln/>
        </p:spPr>
        <p:txBody>
          <a:bodyPr/>
          <a:lstStyle/>
          <a:p>
            <a:r>
              <a:rPr lang="en-US"/>
              <a:t>Publish-Subscribe</a:t>
            </a:r>
          </a:p>
        </p:txBody>
      </p:sp>
      <p:sp>
        <p:nvSpPr>
          <p:cNvPr id="315397" name="Rectangle 5"/>
          <p:cNvSpPr>
            <a:spLocks noChangeArrowheads="1"/>
          </p:cNvSpPr>
          <p:nvPr/>
        </p:nvSpPr>
        <p:spPr bwMode="auto">
          <a:xfrm>
            <a:off x="838200" y="1981200"/>
            <a:ext cx="3352800" cy="2133600"/>
          </a:xfrm>
          <a:prstGeom prst="rect">
            <a:avLst/>
          </a:prstGeom>
          <a:solidFill>
            <a:schemeClr val="accent1"/>
          </a:solidFill>
          <a:ln w="9525">
            <a:solidFill>
              <a:schemeClr val="tx1"/>
            </a:solidFill>
            <a:miter lim="800000"/>
            <a:headEnd/>
            <a:tailEnd/>
          </a:ln>
          <a:effectLst/>
        </p:spPr>
        <p:txBody>
          <a:bodyPr wrap="none" anchor="ctr"/>
          <a:lstStyle/>
          <a:p>
            <a:endParaRPr lang="en-IN"/>
          </a:p>
        </p:txBody>
      </p:sp>
      <p:sp>
        <p:nvSpPr>
          <p:cNvPr id="315398" name="Rectangle 6"/>
          <p:cNvSpPr>
            <a:spLocks noChangeArrowheads="1"/>
          </p:cNvSpPr>
          <p:nvPr/>
        </p:nvSpPr>
        <p:spPr bwMode="auto">
          <a:xfrm>
            <a:off x="2286000" y="2590800"/>
            <a:ext cx="1371600" cy="304800"/>
          </a:xfrm>
          <a:prstGeom prst="rect">
            <a:avLst/>
          </a:prstGeom>
          <a:solidFill>
            <a:schemeClr val="accent1"/>
          </a:solidFill>
          <a:ln w="9525">
            <a:solidFill>
              <a:schemeClr val="tx1"/>
            </a:solidFill>
            <a:miter lim="800000"/>
            <a:headEnd/>
            <a:tailEnd/>
          </a:ln>
          <a:effectLst/>
        </p:spPr>
        <p:txBody>
          <a:bodyPr wrap="none" anchor="ctr"/>
          <a:lstStyle/>
          <a:p>
            <a:endParaRPr lang="en-IN"/>
          </a:p>
        </p:txBody>
      </p:sp>
      <p:sp>
        <p:nvSpPr>
          <p:cNvPr id="315400" name="Rectangle 8"/>
          <p:cNvSpPr>
            <a:spLocks noChangeArrowheads="1"/>
          </p:cNvSpPr>
          <p:nvPr/>
        </p:nvSpPr>
        <p:spPr bwMode="auto">
          <a:xfrm>
            <a:off x="838200" y="2590800"/>
            <a:ext cx="1371600" cy="304800"/>
          </a:xfrm>
          <a:prstGeom prst="rect">
            <a:avLst/>
          </a:prstGeom>
          <a:solidFill>
            <a:schemeClr val="accent1"/>
          </a:solidFill>
          <a:ln w="9525">
            <a:noFill/>
            <a:miter lim="800000"/>
            <a:headEnd/>
            <a:tailEnd/>
          </a:ln>
          <a:effectLst/>
        </p:spPr>
        <p:txBody>
          <a:bodyPr wrap="none" anchor="ctr"/>
          <a:lstStyle/>
          <a:p>
            <a:pPr algn="ctr"/>
            <a:r>
              <a:rPr lang="en-US"/>
              <a:t>total</a:t>
            </a:r>
          </a:p>
        </p:txBody>
      </p:sp>
      <p:sp>
        <p:nvSpPr>
          <p:cNvPr id="315401" name="Rectangle 9"/>
          <p:cNvSpPr>
            <a:spLocks noChangeArrowheads="1"/>
          </p:cNvSpPr>
          <p:nvPr/>
        </p:nvSpPr>
        <p:spPr bwMode="auto">
          <a:xfrm>
            <a:off x="1752600" y="3505200"/>
            <a:ext cx="1219200" cy="381000"/>
          </a:xfrm>
          <a:prstGeom prst="rect">
            <a:avLst/>
          </a:prstGeom>
          <a:solidFill>
            <a:schemeClr val="accent1"/>
          </a:solidFill>
          <a:ln w="9525">
            <a:solidFill>
              <a:schemeClr val="tx1"/>
            </a:solidFill>
            <a:miter lim="800000"/>
            <a:headEnd/>
            <a:tailEnd/>
          </a:ln>
          <a:effectLst/>
        </p:spPr>
        <p:txBody>
          <a:bodyPr wrap="none" anchor="ctr"/>
          <a:lstStyle/>
          <a:p>
            <a:pPr algn="ctr"/>
            <a:r>
              <a:rPr lang="en-US"/>
              <a:t>OK</a:t>
            </a:r>
          </a:p>
        </p:txBody>
      </p:sp>
      <p:sp>
        <p:nvSpPr>
          <p:cNvPr id="315402" name="Rectangle 10"/>
          <p:cNvSpPr>
            <a:spLocks noChangeArrowheads="1"/>
          </p:cNvSpPr>
          <p:nvPr/>
        </p:nvSpPr>
        <p:spPr bwMode="auto">
          <a:xfrm>
            <a:off x="838200" y="1981200"/>
            <a:ext cx="3352800" cy="304800"/>
          </a:xfrm>
          <a:prstGeom prst="rect">
            <a:avLst/>
          </a:prstGeom>
          <a:solidFill>
            <a:schemeClr val="accent1"/>
          </a:solidFill>
          <a:ln w="9525">
            <a:solidFill>
              <a:schemeClr val="tx1"/>
            </a:solidFill>
            <a:miter lim="800000"/>
            <a:headEnd/>
            <a:tailEnd/>
          </a:ln>
          <a:effectLst/>
        </p:spPr>
        <p:txBody>
          <a:bodyPr wrap="none" anchor="ctr"/>
          <a:lstStyle/>
          <a:p>
            <a:r>
              <a:rPr lang="en-US"/>
              <a:t>Bill Window</a:t>
            </a:r>
          </a:p>
        </p:txBody>
      </p:sp>
      <p:sp>
        <p:nvSpPr>
          <p:cNvPr id="315403" name="Rectangle 11"/>
          <p:cNvSpPr>
            <a:spLocks noChangeArrowheads="1"/>
          </p:cNvSpPr>
          <p:nvPr/>
        </p:nvSpPr>
        <p:spPr bwMode="auto">
          <a:xfrm>
            <a:off x="1828800" y="5638800"/>
            <a:ext cx="1371600" cy="304800"/>
          </a:xfrm>
          <a:prstGeom prst="rect">
            <a:avLst/>
          </a:prstGeom>
          <a:solidFill>
            <a:schemeClr val="accent1"/>
          </a:solidFill>
          <a:ln w="9525">
            <a:solidFill>
              <a:schemeClr val="tx1"/>
            </a:solidFill>
            <a:miter lim="800000"/>
            <a:headEnd/>
            <a:tailEnd/>
          </a:ln>
          <a:effectLst/>
        </p:spPr>
        <p:txBody>
          <a:bodyPr wrap="none" anchor="ctr"/>
          <a:lstStyle/>
          <a:p>
            <a:endParaRPr lang="en-IN"/>
          </a:p>
        </p:txBody>
      </p:sp>
      <p:sp>
        <p:nvSpPr>
          <p:cNvPr id="315404" name="Rectangle 12"/>
          <p:cNvSpPr>
            <a:spLocks noChangeArrowheads="1"/>
          </p:cNvSpPr>
          <p:nvPr/>
        </p:nvSpPr>
        <p:spPr bwMode="auto">
          <a:xfrm>
            <a:off x="1828800" y="5257800"/>
            <a:ext cx="1371600" cy="304800"/>
          </a:xfrm>
          <a:prstGeom prst="rect">
            <a:avLst/>
          </a:prstGeom>
          <a:solidFill>
            <a:schemeClr val="accent1"/>
          </a:solidFill>
          <a:ln w="9525">
            <a:noFill/>
            <a:miter lim="800000"/>
            <a:headEnd/>
            <a:tailEnd/>
          </a:ln>
          <a:effectLst/>
        </p:spPr>
        <p:txBody>
          <a:bodyPr wrap="none" anchor="ctr"/>
          <a:lstStyle/>
          <a:p>
            <a:pPr algn="ctr"/>
            <a:r>
              <a:rPr lang="en-US"/>
              <a:t>Remaining Items</a:t>
            </a:r>
          </a:p>
        </p:txBody>
      </p:sp>
      <p:sp>
        <p:nvSpPr>
          <p:cNvPr id="315406" name="Rectangle 14"/>
          <p:cNvSpPr>
            <a:spLocks noChangeArrowheads="1"/>
          </p:cNvSpPr>
          <p:nvPr/>
        </p:nvSpPr>
        <p:spPr bwMode="auto">
          <a:xfrm>
            <a:off x="990600" y="4648200"/>
            <a:ext cx="3352800" cy="304800"/>
          </a:xfrm>
          <a:prstGeom prst="rect">
            <a:avLst/>
          </a:prstGeom>
          <a:solidFill>
            <a:schemeClr val="accent1"/>
          </a:solidFill>
          <a:ln w="9525">
            <a:solidFill>
              <a:schemeClr val="tx1"/>
            </a:solidFill>
            <a:miter lim="800000"/>
            <a:headEnd/>
            <a:tailEnd/>
          </a:ln>
          <a:effectLst/>
        </p:spPr>
        <p:txBody>
          <a:bodyPr wrap="none" anchor="ctr"/>
          <a:lstStyle/>
          <a:p>
            <a:r>
              <a:rPr lang="en-US"/>
              <a:t>Stock Window</a:t>
            </a:r>
          </a:p>
        </p:txBody>
      </p:sp>
      <p:sp>
        <p:nvSpPr>
          <p:cNvPr id="315411" name="Line 19"/>
          <p:cNvSpPr>
            <a:spLocks noChangeShapeType="1"/>
          </p:cNvSpPr>
          <p:nvPr/>
        </p:nvSpPr>
        <p:spPr bwMode="auto">
          <a:xfrm flipH="1" flipV="1">
            <a:off x="4191000" y="3581400"/>
            <a:ext cx="838200" cy="762000"/>
          </a:xfrm>
          <a:prstGeom prst="line">
            <a:avLst/>
          </a:prstGeom>
          <a:noFill/>
          <a:ln w="9525">
            <a:solidFill>
              <a:schemeClr val="tx1"/>
            </a:solidFill>
            <a:round/>
            <a:headEnd/>
            <a:tailEnd type="triangle" w="med" len="med"/>
          </a:ln>
          <a:effectLst/>
        </p:spPr>
        <p:txBody>
          <a:bodyPr/>
          <a:lstStyle/>
          <a:p>
            <a:endParaRPr lang="en-IN"/>
          </a:p>
        </p:txBody>
      </p:sp>
      <p:sp>
        <p:nvSpPr>
          <p:cNvPr id="315412" name="Line 20"/>
          <p:cNvSpPr>
            <a:spLocks noChangeShapeType="1"/>
          </p:cNvSpPr>
          <p:nvPr/>
        </p:nvSpPr>
        <p:spPr bwMode="auto">
          <a:xfrm>
            <a:off x="4953000" y="4343400"/>
            <a:ext cx="0" cy="0"/>
          </a:xfrm>
          <a:prstGeom prst="line">
            <a:avLst/>
          </a:prstGeom>
          <a:noFill/>
          <a:ln w="9525">
            <a:solidFill>
              <a:schemeClr val="tx1"/>
            </a:solidFill>
            <a:round/>
            <a:headEnd/>
            <a:tailEnd type="triangle" w="med" len="med"/>
          </a:ln>
          <a:effectLst/>
        </p:spPr>
        <p:txBody>
          <a:bodyPr/>
          <a:lstStyle/>
          <a:p>
            <a:endParaRPr lang="en-IN"/>
          </a:p>
        </p:txBody>
      </p:sp>
      <p:sp>
        <p:nvSpPr>
          <p:cNvPr id="315413" name="Line 21"/>
          <p:cNvSpPr>
            <a:spLocks noChangeShapeType="1"/>
          </p:cNvSpPr>
          <p:nvPr/>
        </p:nvSpPr>
        <p:spPr bwMode="auto">
          <a:xfrm flipH="1">
            <a:off x="4343400" y="4343400"/>
            <a:ext cx="685800" cy="838200"/>
          </a:xfrm>
          <a:prstGeom prst="line">
            <a:avLst/>
          </a:prstGeom>
          <a:noFill/>
          <a:ln w="9525">
            <a:solidFill>
              <a:schemeClr val="tx1"/>
            </a:solidFill>
            <a:round/>
            <a:headEnd/>
            <a:tailEnd type="triangle" w="med" len="med"/>
          </a:ln>
          <a:effectLst/>
        </p:spPr>
        <p:txBody>
          <a:bodyPr/>
          <a:lstStyle/>
          <a:p>
            <a:endParaRPr lang="en-IN"/>
          </a:p>
        </p:txBody>
      </p:sp>
      <p:sp>
        <p:nvSpPr>
          <p:cNvPr id="315414" name="Text Box 22"/>
          <p:cNvSpPr txBox="1">
            <a:spLocks noChangeArrowheads="1"/>
          </p:cNvSpPr>
          <p:nvPr/>
        </p:nvSpPr>
        <p:spPr bwMode="auto">
          <a:xfrm>
            <a:off x="5089525" y="4075113"/>
            <a:ext cx="1390650" cy="366712"/>
          </a:xfrm>
          <a:prstGeom prst="rect">
            <a:avLst/>
          </a:prstGeom>
          <a:noFill/>
          <a:ln w="9525">
            <a:noFill/>
            <a:miter lim="800000"/>
            <a:headEnd/>
            <a:tailEnd/>
          </a:ln>
          <a:effectLst/>
        </p:spPr>
        <p:txBody>
          <a:bodyPr wrap="none">
            <a:spAutoFit/>
          </a:bodyPr>
          <a:lstStyle/>
          <a:p>
            <a:r>
              <a:rPr lang="en-US"/>
              <a:t>Subscribers</a:t>
            </a:r>
          </a:p>
        </p:txBody>
      </p:sp>
      <p:sp>
        <p:nvSpPr>
          <p:cNvPr id="315415" name="Rectangle 23"/>
          <p:cNvSpPr>
            <a:spLocks noChangeArrowheads="1"/>
          </p:cNvSpPr>
          <p:nvPr/>
        </p:nvSpPr>
        <p:spPr bwMode="auto">
          <a:xfrm>
            <a:off x="5029200" y="1371600"/>
            <a:ext cx="2209800" cy="457200"/>
          </a:xfrm>
          <a:prstGeom prst="rect">
            <a:avLst/>
          </a:prstGeom>
          <a:solidFill>
            <a:schemeClr val="accent1"/>
          </a:solidFill>
          <a:ln w="9525">
            <a:solidFill>
              <a:schemeClr val="tx1"/>
            </a:solidFill>
            <a:miter lim="800000"/>
            <a:headEnd/>
            <a:tailEnd/>
          </a:ln>
          <a:effectLst/>
        </p:spPr>
        <p:txBody>
          <a:bodyPr wrap="none" anchor="ctr"/>
          <a:lstStyle/>
          <a:p>
            <a:pPr algn="ctr"/>
            <a:r>
              <a:rPr lang="en-US"/>
              <a:t>:ListenerObject</a:t>
            </a:r>
          </a:p>
        </p:txBody>
      </p:sp>
      <p:sp>
        <p:nvSpPr>
          <p:cNvPr id="315416" name="Rectangle 24"/>
          <p:cNvSpPr>
            <a:spLocks noChangeArrowheads="1"/>
          </p:cNvSpPr>
          <p:nvPr/>
        </p:nvSpPr>
        <p:spPr bwMode="auto">
          <a:xfrm>
            <a:off x="5029200" y="1828800"/>
            <a:ext cx="2209800" cy="533400"/>
          </a:xfrm>
          <a:prstGeom prst="rect">
            <a:avLst/>
          </a:prstGeom>
          <a:solidFill>
            <a:schemeClr val="accent1"/>
          </a:solidFill>
          <a:ln w="9525">
            <a:solidFill>
              <a:schemeClr val="tx1"/>
            </a:solidFill>
            <a:miter lim="800000"/>
            <a:headEnd/>
            <a:tailEnd/>
          </a:ln>
          <a:effectLst/>
        </p:spPr>
        <p:txBody>
          <a:bodyPr wrap="none" anchor="ctr"/>
          <a:lstStyle/>
          <a:p>
            <a:r>
              <a:rPr lang="en-US"/>
              <a:t>eventHandling code</a:t>
            </a:r>
          </a:p>
        </p:txBody>
      </p:sp>
      <p:sp>
        <p:nvSpPr>
          <p:cNvPr id="315417" name="Line 25"/>
          <p:cNvSpPr>
            <a:spLocks noChangeShapeType="1"/>
          </p:cNvSpPr>
          <p:nvPr/>
        </p:nvSpPr>
        <p:spPr bwMode="auto">
          <a:xfrm flipH="1" flipV="1">
            <a:off x="7239000" y="1600200"/>
            <a:ext cx="457200" cy="76200"/>
          </a:xfrm>
          <a:prstGeom prst="line">
            <a:avLst/>
          </a:prstGeom>
          <a:noFill/>
          <a:ln w="9525">
            <a:solidFill>
              <a:schemeClr val="tx1"/>
            </a:solidFill>
            <a:round/>
            <a:headEnd/>
            <a:tailEnd type="triangle" w="med" len="med"/>
          </a:ln>
          <a:effectLst/>
        </p:spPr>
        <p:txBody>
          <a:bodyPr/>
          <a:lstStyle/>
          <a:p>
            <a:endParaRPr lang="en-IN"/>
          </a:p>
        </p:txBody>
      </p:sp>
      <p:sp>
        <p:nvSpPr>
          <p:cNvPr id="315418" name="Text Box 26"/>
          <p:cNvSpPr txBox="1">
            <a:spLocks noChangeArrowheads="1"/>
          </p:cNvSpPr>
          <p:nvPr/>
        </p:nvSpPr>
        <p:spPr bwMode="auto">
          <a:xfrm>
            <a:off x="7467600" y="1676400"/>
            <a:ext cx="1136650" cy="366713"/>
          </a:xfrm>
          <a:prstGeom prst="rect">
            <a:avLst/>
          </a:prstGeom>
          <a:noFill/>
          <a:ln w="9525">
            <a:noFill/>
            <a:miter lim="800000"/>
            <a:headEnd/>
            <a:tailEnd/>
          </a:ln>
          <a:effectLst/>
        </p:spPr>
        <p:txBody>
          <a:bodyPr wrap="none">
            <a:spAutoFit/>
          </a:bodyPr>
          <a:lstStyle/>
          <a:p>
            <a:r>
              <a:rPr lang="en-US"/>
              <a:t>Publisher</a:t>
            </a:r>
          </a:p>
        </p:txBody>
      </p:sp>
      <p:sp>
        <p:nvSpPr>
          <p:cNvPr id="315419" name="Line 27"/>
          <p:cNvSpPr>
            <a:spLocks noChangeShapeType="1"/>
          </p:cNvSpPr>
          <p:nvPr/>
        </p:nvSpPr>
        <p:spPr bwMode="auto">
          <a:xfrm flipH="1">
            <a:off x="4191000" y="1676400"/>
            <a:ext cx="838200" cy="457200"/>
          </a:xfrm>
          <a:prstGeom prst="line">
            <a:avLst/>
          </a:prstGeom>
          <a:noFill/>
          <a:ln w="9525">
            <a:solidFill>
              <a:schemeClr val="tx1"/>
            </a:solidFill>
            <a:round/>
            <a:headEnd/>
            <a:tailEnd/>
          </a:ln>
          <a:effectLst/>
        </p:spPr>
        <p:txBody>
          <a:bodyPr/>
          <a:lstStyle/>
          <a:p>
            <a:endParaRPr lang="en-IN"/>
          </a:p>
        </p:txBody>
      </p:sp>
      <p:sp>
        <p:nvSpPr>
          <p:cNvPr id="315420" name="Line 28"/>
          <p:cNvSpPr>
            <a:spLocks noChangeShapeType="1"/>
          </p:cNvSpPr>
          <p:nvPr/>
        </p:nvSpPr>
        <p:spPr bwMode="auto">
          <a:xfrm flipV="1">
            <a:off x="4191000" y="2362200"/>
            <a:ext cx="1066800" cy="2209800"/>
          </a:xfrm>
          <a:prstGeom prst="line">
            <a:avLst/>
          </a:prstGeom>
          <a:noFill/>
          <a:ln w="9525">
            <a:solidFill>
              <a:schemeClr val="tx1"/>
            </a:solidFill>
            <a:round/>
            <a:headEnd/>
            <a:tailEnd/>
          </a:ln>
          <a:effectLst/>
        </p:spPr>
        <p:txBody>
          <a:bodyPr/>
          <a:lstStyle/>
          <a:p>
            <a:endParaRPr lang="en-IN"/>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l"/>
            <a:r>
              <a:rPr lang="en-IN" dirty="0" smtClean="0"/>
              <a:t>Acknowledgement</a:t>
            </a:r>
            <a:endParaRPr lang="en-IN" dirty="0"/>
          </a:p>
        </p:txBody>
      </p:sp>
      <p:sp>
        <p:nvSpPr>
          <p:cNvPr id="3" name="Content Placeholder 2"/>
          <p:cNvSpPr>
            <a:spLocks noGrp="1"/>
          </p:cNvSpPr>
          <p:nvPr>
            <p:ph idx="1"/>
          </p:nvPr>
        </p:nvSpPr>
        <p:spPr/>
        <p:txBody>
          <a:bodyPr>
            <a:normAutofit fontScale="92500" lnSpcReduction="20000"/>
          </a:bodyPr>
          <a:lstStyle/>
          <a:p>
            <a:r>
              <a:rPr lang="en-IN" dirty="0" smtClean="0"/>
              <a:t>Slides are based on Course Text Books:</a:t>
            </a:r>
          </a:p>
          <a:p>
            <a:endParaRPr lang="en-IN" dirty="0" smtClean="0"/>
          </a:p>
          <a:p>
            <a:pPr lvl="1"/>
            <a:r>
              <a:rPr lang="en-IN" dirty="0" smtClean="0"/>
              <a:t>Applying UMP and Patterns (An Introduction to Object-Oriented Analysis and Design and Iterative Development) : Craig </a:t>
            </a:r>
            <a:r>
              <a:rPr lang="en-IN" dirty="0" err="1" smtClean="0"/>
              <a:t>Larman</a:t>
            </a:r>
            <a:endParaRPr lang="en-IN" dirty="0" smtClean="0"/>
          </a:p>
          <a:p>
            <a:pPr lvl="1"/>
            <a:r>
              <a:rPr lang="en-IN" dirty="0" smtClean="0"/>
              <a:t>UMP Distilled (A Brief Guide to the Standard Object </a:t>
            </a:r>
            <a:r>
              <a:rPr lang="en-IN" dirty="0" err="1" smtClean="0"/>
              <a:t>Modeling</a:t>
            </a:r>
            <a:r>
              <a:rPr lang="en-IN" dirty="0" smtClean="0"/>
              <a:t> </a:t>
            </a:r>
            <a:r>
              <a:rPr lang="en-IN" dirty="0" err="1" smtClean="0"/>
              <a:t>Langauge</a:t>
            </a:r>
            <a:r>
              <a:rPr lang="en-IN" dirty="0" smtClean="0"/>
              <a:t>) : Martin Fowler</a:t>
            </a:r>
          </a:p>
          <a:p>
            <a:pPr lvl="1"/>
            <a:r>
              <a:rPr lang="en-IN" dirty="0" smtClean="0"/>
              <a:t>Design Patterns (Elements of Reusable Object-Oriented Software) : </a:t>
            </a:r>
            <a:r>
              <a:rPr lang="en-IN" dirty="0" err="1" smtClean="0"/>
              <a:t>GoF</a:t>
            </a:r>
            <a:r>
              <a:rPr lang="en-IN" dirty="0" smtClean="0"/>
              <a:t> </a:t>
            </a:r>
          </a:p>
          <a:p>
            <a:pPr lvl="1">
              <a:buNone/>
            </a:pPr>
            <a:r>
              <a:rPr lang="en-IN" dirty="0" smtClean="0"/>
              <a:t>	Erich Gama | Richard Helm | </a:t>
            </a:r>
          </a:p>
          <a:p>
            <a:pPr lvl="1">
              <a:buNone/>
            </a:pPr>
            <a:r>
              <a:rPr lang="en-IN" dirty="0" smtClean="0"/>
              <a:t>	Ralph Johnson | John </a:t>
            </a:r>
            <a:r>
              <a:rPr lang="en-IN" dirty="0" err="1" smtClean="0"/>
              <a:t>Vlissides</a:t>
            </a:r>
            <a:r>
              <a:rPr lang="en-IN" dirty="0" smtClean="0"/>
              <a:t>.</a:t>
            </a:r>
          </a:p>
          <a:p>
            <a:pPr lvl="1">
              <a:buNone/>
            </a:pPr>
            <a:endParaRPr lang="en-IN" dirty="0" smtClean="0"/>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2481</TotalTime>
  <Words>202</Words>
  <Application>Microsoft Office PowerPoint</Application>
  <PresentationFormat>On-screen Show (4:3)</PresentationFormat>
  <Paragraphs>145</Paragraphs>
  <Slides>6</Slides>
  <Notes>0</Notes>
  <HiddenSlides>0</HiddenSlides>
  <MMClips>0</MMClips>
  <ScaleCrop>false</ScaleCrop>
  <HeadingPairs>
    <vt:vector size="4" baseType="variant">
      <vt:variant>
        <vt:lpstr>Theme</vt:lpstr>
      </vt:variant>
      <vt:variant>
        <vt:i4>1</vt:i4>
      </vt:variant>
      <vt:variant>
        <vt:lpstr>Slide Titles</vt:lpstr>
      </vt:variant>
      <vt:variant>
        <vt:i4>6</vt:i4>
      </vt:variant>
    </vt:vector>
  </HeadingPairs>
  <TitlesOfParts>
    <vt:vector size="7" baseType="lpstr">
      <vt:lpstr>Office Theme</vt:lpstr>
      <vt:lpstr>Object Oriented Analysis &amp; Design Module-8 (RL 8.2.1)</vt:lpstr>
      <vt:lpstr>Slide 2</vt:lpstr>
      <vt:lpstr>Observer/Publish-Subscribe/Delegation Event Model (GoF) pattern.</vt:lpstr>
      <vt:lpstr>Publish-Subscribe</vt:lpstr>
      <vt:lpstr>Publish-Subscribe</vt:lpstr>
      <vt:lpstr>Acknowledgement</vt:lpstr>
    </vt:vector>
  </TitlesOfParts>
  <Company>bits</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EA ZC451 (Lecture #2)</dc:title>
  <dc:creator>ipc</dc:creator>
  <cp:lastModifiedBy>Harvinder Jabbal</cp:lastModifiedBy>
  <cp:revision>266</cp:revision>
  <dcterms:created xsi:type="dcterms:W3CDTF">2012-01-04T06:56:57Z</dcterms:created>
  <dcterms:modified xsi:type="dcterms:W3CDTF">2015-02-26T04:32:38Z</dcterms:modified>
</cp:coreProperties>
</file>